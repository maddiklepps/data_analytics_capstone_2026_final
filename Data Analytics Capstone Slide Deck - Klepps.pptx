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Brittany" charset="1" panose="00000000000000000000"/>
      <p:regular r:id="rId22"/>
    </p:embeddedFont>
    <p:embeddedFont>
      <p:font typeface="Hatton" charset="1" panose="00000500000000000000"/>
      <p:regular r:id="rId23"/>
    </p:embeddedFont>
    <p:embeddedFont>
      <p:font typeface="Public Sans" charset="1" panose="00000000000000000000"/>
      <p:regular r:id="rId24"/>
    </p:embeddedFont>
    <p:embeddedFont>
      <p:font typeface="Hatton Bold" charset="1" panose="00000800000000000000"/>
      <p:regular r:id="rId25"/>
    </p:embeddedFont>
    <p:embeddedFont>
      <p:font typeface="Public Sans Bold" charset="1" panose="00000000000000000000"/>
      <p:regular r:id="rId26"/>
    </p:embeddedFont>
    <p:embeddedFont>
      <p:font typeface="Public Sans Bold Italics" charset="1" panose="000000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ACBC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13642" y="3834535"/>
            <a:ext cx="9660715" cy="1024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700" spc="354">
                <a:solidFill>
                  <a:srgbClr val="545454"/>
                </a:solidFill>
                <a:latin typeface="Brittany"/>
                <a:ea typeface="Brittany"/>
                <a:cs typeface="Brittany"/>
                <a:sym typeface="Brittany"/>
              </a:rPr>
              <a:t>Data Analytics Capstone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27916" y="5208005"/>
            <a:ext cx="15632168" cy="1065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0"/>
              </a:lnSpc>
            </a:pPr>
            <a:r>
              <a:rPr lang="en-US" sz="8600" spc="111">
                <a:solidFill>
                  <a:srgbClr val="FFFFFF"/>
                </a:solidFill>
                <a:latin typeface="Hatton"/>
                <a:ea typeface="Hatton"/>
                <a:cs typeface="Hatton"/>
                <a:sym typeface="Hatton"/>
              </a:rPr>
              <a:t>BOOK RETAILER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61045" y="8860790"/>
            <a:ext cx="6165910" cy="397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900" spc="37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Maddi Klepps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CBC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164866"/>
            <a:ext cx="14946820" cy="1595369"/>
            <a:chOff x="0" y="0"/>
            <a:chExt cx="1136776" cy="1213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6776" cy="121335"/>
            </a:xfrm>
            <a:custGeom>
              <a:avLst/>
              <a:gdLst/>
              <a:ahLst/>
              <a:cxnLst/>
              <a:rect r="r" b="b" t="t" l="l"/>
              <a:pathLst>
                <a:path h="121335" w="1136776">
                  <a:moveTo>
                    <a:pt x="10116" y="0"/>
                  </a:moveTo>
                  <a:lnTo>
                    <a:pt x="1126660" y="0"/>
                  </a:lnTo>
                  <a:cubicBezTo>
                    <a:pt x="1129343" y="0"/>
                    <a:pt x="1131916" y="1066"/>
                    <a:pt x="1133813" y="2963"/>
                  </a:cubicBezTo>
                  <a:cubicBezTo>
                    <a:pt x="1135711" y="4860"/>
                    <a:pt x="1136776" y="7433"/>
                    <a:pt x="1136776" y="10116"/>
                  </a:cubicBezTo>
                  <a:lnTo>
                    <a:pt x="1136776" y="111219"/>
                  </a:lnTo>
                  <a:cubicBezTo>
                    <a:pt x="1136776" y="113902"/>
                    <a:pt x="1135711" y="116475"/>
                    <a:pt x="1133813" y="118372"/>
                  </a:cubicBezTo>
                  <a:cubicBezTo>
                    <a:pt x="1131916" y="120270"/>
                    <a:pt x="1129343" y="121335"/>
                    <a:pt x="1126660" y="121335"/>
                  </a:cubicBezTo>
                  <a:lnTo>
                    <a:pt x="10116" y="121335"/>
                  </a:lnTo>
                  <a:cubicBezTo>
                    <a:pt x="7433" y="121335"/>
                    <a:pt x="4860" y="120270"/>
                    <a:pt x="2963" y="118372"/>
                  </a:cubicBezTo>
                  <a:cubicBezTo>
                    <a:pt x="1066" y="116475"/>
                    <a:pt x="0" y="113902"/>
                    <a:pt x="0" y="111219"/>
                  </a:cubicBezTo>
                  <a:lnTo>
                    <a:pt x="0" y="10116"/>
                  </a:lnTo>
                  <a:cubicBezTo>
                    <a:pt x="0" y="7433"/>
                    <a:pt x="1066" y="4860"/>
                    <a:pt x="2963" y="2963"/>
                  </a:cubicBezTo>
                  <a:cubicBezTo>
                    <a:pt x="4860" y="1066"/>
                    <a:pt x="7433" y="0"/>
                    <a:pt x="10116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1136776" cy="83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590545" y="5475730"/>
            <a:ext cx="7565659" cy="3971971"/>
          </a:xfrm>
          <a:custGeom>
            <a:avLst/>
            <a:gdLst/>
            <a:ahLst/>
            <a:cxnLst/>
            <a:rect r="r" b="b" t="t" l="l"/>
            <a:pathLst>
              <a:path h="3971971" w="7565659">
                <a:moveTo>
                  <a:pt x="0" y="0"/>
                </a:moveTo>
                <a:lnTo>
                  <a:pt x="7565659" y="0"/>
                </a:lnTo>
                <a:lnTo>
                  <a:pt x="7565659" y="3971971"/>
                </a:lnTo>
                <a:lnTo>
                  <a:pt x="0" y="39719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862017" y="4838531"/>
            <a:ext cx="3925465" cy="5246370"/>
            <a:chOff x="0" y="0"/>
            <a:chExt cx="1739900" cy="23253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9900" cy="2325370"/>
            </a:xfrm>
            <a:custGeom>
              <a:avLst/>
              <a:gdLst/>
              <a:ahLst/>
              <a:cxnLst/>
              <a:rect r="r" b="b" t="t" l="l"/>
              <a:pathLst>
                <a:path h="2325370" w="1739900">
                  <a:moveTo>
                    <a:pt x="1739900" y="101600"/>
                  </a:moveTo>
                  <a:lnTo>
                    <a:pt x="1739900" y="2223770"/>
                  </a:lnTo>
                  <a:cubicBezTo>
                    <a:pt x="1739900" y="2279650"/>
                    <a:pt x="1694180" y="2325370"/>
                    <a:pt x="1638300" y="2325370"/>
                  </a:cubicBezTo>
                  <a:lnTo>
                    <a:pt x="101600" y="2325370"/>
                  </a:lnTo>
                  <a:cubicBezTo>
                    <a:pt x="45720" y="2325370"/>
                    <a:pt x="0" y="2279650"/>
                    <a:pt x="0" y="2223770"/>
                  </a:cubicBezTo>
                  <a:lnTo>
                    <a:pt x="0" y="101600"/>
                  </a:lnTo>
                  <a:cubicBezTo>
                    <a:pt x="0" y="45720"/>
                    <a:pt x="45720" y="0"/>
                    <a:pt x="101600" y="0"/>
                  </a:cubicBezTo>
                  <a:lnTo>
                    <a:pt x="1638300" y="0"/>
                  </a:lnTo>
                  <a:cubicBezTo>
                    <a:pt x="1694180" y="0"/>
                    <a:pt x="1739900" y="45720"/>
                    <a:pt x="1739900" y="101600"/>
                  </a:cubicBezTo>
                  <a:close/>
                </a:path>
              </a:pathLst>
            </a:custGeom>
            <a:blipFill>
              <a:blip r:embed="rId3"/>
              <a:stretch>
                <a:fillRect l="-13829" t="-30976" r="-20019" b="-2555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18211" y="1997414"/>
            <a:ext cx="11696960" cy="81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6600" spc="85">
                <a:solidFill>
                  <a:srgbClr val="545454"/>
                </a:solidFill>
                <a:latin typeface="Hatton Bold"/>
                <a:ea typeface="Hatton Bold"/>
                <a:cs typeface="Hatton Bold"/>
                <a:sym typeface="Hatton Bold"/>
              </a:rPr>
              <a:t>WELCOME!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8211" y="3307330"/>
            <a:ext cx="14618791" cy="1253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spc="31" b="true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My name is Maddi Klepps and I am an Fox Valley Technical Student majoring in Data &amp; Analytics. This is my capstone project analyzing best-selling Amazon book data to recommend products for an online book retailer!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314175" y="9929041"/>
            <a:ext cx="900036" cy="273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spc="20">
                <a:solidFill>
                  <a:srgbClr val="545454"/>
                </a:solidFill>
                <a:latin typeface="Public Sans"/>
                <a:ea typeface="Public Sans"/>
                <a:cs typeface="Public Sans"/>
                <a:sym typeface="Public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08808" y="9654552"/>
            <a:ext cx="16250492" cy="0"/>
          </a:xfrm>
          <a:prstGeom prst="line">
            <a:avLst/>
          </a:prstGeom>
          <a:ln cap="rnd" w="28575">
            <a:solidFill>
              <a:srgbClr val="BCD2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3276214" y="1595180"/>
            <a:ext cx="13983086" cy="0"/>
          </a:xfrm>
          <a:prstGeom prst="line">
            <a:avLst/>
          </a:prstGeom>
          <a:ln cap="rnd" w="38100">
            <a:solidFill>
              <a:srgbClr val="BCD2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494271" y="4364764"/>
            <a:ext cx="5487152" cy="5212794"/>
          </a:xfrm>
          <a:custGeom>
            <a:avLst/>
            <a:gdLst/>
            <a:ahLst/>
            <a:cxnLst/>
            <a:rect r="r" b="b" t="t" l="l"/>
            <a:pathLst>
              <a:path h="5212794" w="5487152">
                <a:moveTo>
                  <a:pt x="0" y="0"/>
                </a:moveTo>
                <a:lnTo>
                  <a:pt x="5487152" y="0"/>
                </a:lnTo>
                <a:lnTo>
                  <a:pt x="5487152" y="5212794"/>
                </a:lnTo>
                <a:lnTo>
                  <a:pt x="0" y="5212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28540" y="2145759"/>
            <a:ext cx="8981615" cy="73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7"/>
              </a:lnSpc>
            </a:pPr>
            <a:r>
              <a:rPr lang="en-US" sz="5997" spc="77">
                <a:solidFill>
                  <a:srgbClr val="545454"/>
                </a:solidFill>
                <a:latin typeface="Hatton"/>
                <a:ea typeface="Hatton"/>
                <a:cs typeface="Hatton"/>
                <a:sym typeface="Hatton"/>
              </a:rPr>
              <a:t>OF CONTENTS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8540" y="768816"/>
            <a:ext cx="3867293" cy="908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3"/>
              </a:lnSpc>
            </a:pPr>
            <a:r>
              <a:rPr lang="en-US" sz="6883" spc="316">
                <a:solidFill>
                  <a:srgbClr val="545454"/>
                </a:solidFill>
                <a:latin typeface="Brittany"/>
                <a:ea typeface="Brittany"/>
                <a:cs typeface="Brittany"/>
                <a:sym typeface="Brittany"/>
              </a:rPr>
              <a:t>Table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00945" y="3260079"/>
            <a:ext cx="4338587" cy="5856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b="true" sz="2599" spc="33">
                <a:solidFill>
                  <a:srgbClr val="6082B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1. PROBLEM STATEMENT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b="true" sz="2599" spc="33">
                <a:solidFill>
                  <a:srgbClr val="6082B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2. DATASET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b="true" sz="2599" spc="33">
                <a:solidFill>
                  <a:srgbClr val="6082B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 KEY FINDINGS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b="true" sz="2599" spc="33">
                <a:solidFill>
                  <a:srgbClr val="6082B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4. LIMITATIONS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b="true" sz="2599" spc="33">
                <a:solidFill>
                  <a:srgbClr val="6082B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5. RECOMMENDATIONS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  <a:r>
              <a:rPr lang="en-US" b="true" sz="2599" spc="33">
                <a:solidFill>
                  <a:srgbClr val="6082B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6. BUSINESS VALUE</a:t>
            </a:r>
          </a:p>
          <a:p>
            <a:pPr algn="l">
              <a:lnSpc>
                <a:spcPts val="25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944912" y="4976029"/>
            <a:ext cx="6283134" cy="1995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3"/>
              </a:lnSpc>
            </a:pPr>
            <a:r>
              <a:rPr lang="en-US" b="true" sz="2299" spc="29">
                <a:solidFill>
                  <a:srgbClr val="6082B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- HIGHEST GROSSING GENRES</a:t>
            </a:r>
          </a:p>
          <a:p>
            <a:pPr algn="l">
              <a:lnSpc>
                <a:spcPts val="3173"/>
              </a:lnSpc>
            </a:pPr>
            <a:r>
              <a:rPr lang="en-US" b="true" sz="2299" spc="29">
                <a:solidFill>
                  <a:srgbClr val="6082B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- HIGHEST GROSSING SUBGENRES</a:t>
            </a:r>
          </a:p>
          <a:p>
            <a:pPr algn="l">
              <a:lnSpc>
                <a:spcPts val="3173"/>
              </a:lnSpc>
            </a:pPr>
            <a:r>
              <a:rPr lang="en-US" b="true" sz="2299" spc="29">
                <a:solidFill>
                  <a:srgbClr val="6082B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- TOP PRIORITY TITLES</a:t>
            </a:r>
          </a:p>
          <a:p>
            <a:pPr algn="l">
              <a:lnSpc>
                <a:spcPts val="3173"/>
              </a:lnSpc>
            </a:pPr>
            <a:r>
              <a:rPr lang="en-US" b="true" sz="2299" spc="29">
                <a:solidFill>
                  <a:srgbClr val="6082B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- TOP PRIORITY SERIES</a:t>
            </a:r>
          </a:p>
          <a:p>
            <a:pPr algn="l">
              <a:lnSpc>
                <a:spcPts val="3173"/>
              </a:lnSpc>
            </a:pPr>
            <a:r>
              <a:rPr lang="en-US" b="true" sz="2299" spc="29">
                <a:solidFill>
                  <a:srgbClr val="6082B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- TOP PRIORITY TITLES WITHIN A SERIES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314175" y="9929041"/>
            <a:ext cx="900036" cy="273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spc="20">
                <a:solidFill>
                  <a:srgbClr val="545454"/>
                </a:solidFill>
                <a:latin typeface="Public Sans"/>
                <a:ea typeface="Public Sans"/>
                <a:cs typeface="Public Sans"/>
                <a:sym typeface="Public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CBC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7553" y="3703192"/>
            <a:ext cx="14946820" cy="2532918"/>
            <a:chOff x="0" y="0"/>
            <a:chExt cx="1136776" cy="19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6776" cy="192640"/>
            </a:xfrm>
            <a:custGeom>
              <a:avLst/>
              <a:gdLst/>
              <a:ahLst/>
              <a:cxnLst/>
              <a:rect r="r" b="b" t="t" l="l"/>
              <a:pathLst>
                <a:path h="192640" w="1136776">
                  <a:moveTo>
                    <a:pt x="10116" y="0"/>
                  </a:moveTo>
                  <a:lnTo>
                    <a:pt x="1126660" y="0"/>
                  </a:lnTo>
                  <a:cubicBezTo>
                    <a:pt x="1129343" y="0"/>
                    <a:pt x="1131916" y="1066"/>
                    <a:pt x="1133813" y="2963"/>
                  </a:cubicBezTo>
                  <a:cubicBezTo>
                    <a:pt x="1135711" y="4860"/>
                    <a:pt x="1136776" y="7433"/>
                    <a:pt x="1136776" y="10116"/>
                  </a:cubicBezTo>
                  <a:lnTo>
                    <a:pt x="1136776" y="182524"/>
                  </a:lnTo>
                  <a:cubicBezTo>
                    <a:pt x="1136776" y="185207"/>
                    <a:pt x="1135711" y="187780"/>
                    <a:pt x="1133813" y="189677"/>
                  </a:cubicBezTo>
                  <a:cubicBezTo>
                    <a:pt x="1131916" y="191575"/>
                    <a:pt x="1129343" y="192640"/>
                    <a:pt x="1126660" y="192640"/>
                  </a:cubicBezTo>
                  <a:lnTo>
                    <a:pt x="10116" y="192640"/>
                  </a:lnTo>
                  <a:cubicBezTo>
                    <a:pt x="7433" y="192640"/>
                    <a:pt x="4860" y="191575"/>
                    <a:pt x="2963" y="189677"/>
                  </a:cubicBezTo>
                  <a:cubicBezTo>
                    <a:pt x="1066" y="187780"/>
                    <a:pt x="0" y="185207"/>
                    <a:pt x="0" y="182524"/>
                  </a:cubicBezTo>
                  <a:lnTo>
                    <a:pt x="0" y="10116"/>
                  </a:lnTo>
                  <a:cubicBezTo>
                    <a:pt x="0" y="7433"/>
                    <a:pt x="1066" y="4860"/>
                    <a:pt x="2963" y="2963"/>
                  </a:cubicBezTo>
                  <a:cubicBezTo>
                    <a:pt x="4860" y="1066"/>
                    <a:pt x="7433" y="0"/>
                    <a:pt x="10116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1136776" cy="154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164035" y="6838053"/>
            <a:ext cx="5600158" cy="3129089"/>
          </a:xfrm>
          <a:custGeom>
            <a:avLst/>
            <a:gdLst/>
            <a:ahLst/>
            <a:cxnLst/>
            <a:rect r="r" b="b" t="t" l="l"/>
            <a:pathLst>
              <a:path h="3129089" w="5600158">
                <a:moveTo>
                  <a:pt x="0" y="0"/>
                </a:moveTo>
                <a:lnTo>
                  <a:pt x="5600158" y="0"/>
                </a:lnTo>
                <a:lnTo>
                  <a:pt x="5600158" y="3129088"/>
                </a:lnTo>
                <a:lnTo>
                  <a:pt x="0" y="31290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97064" y="2275207"/>
            <a:ext cx="11696960" cy="81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6600" spc="85">
                <a:solidFill>
                  <a:srgbClr val="545454"/>
                </a:solidFill>
                <a:latin typeface="Hatton Bold"/>
                <a:ea typeface="Hatton Bold"/>
                <a:cs typeface="Hatton Bold"/>
                <a:sym typeface="Hatton Bold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7064" y="3887347"/>
            <a:ext cx="14618791" cy="834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spc="31" b="true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What bestselling books should an online retailer prioritize to maximize revenue and customer engagement?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7064" y="5086350"/>
            <a:ext cx="14618791" cy="711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26">
                <a:solidFill>
                  <a:srgbClr val="545454"/>
                </a:solidFill>
                <a:latin typeface="Public Sans"/>
                <a:ea typeface="Public Sans"/>
                <a:cs typeface="Public Sans"/>
                <a:sym typeface="Public Sans"/>
              </a:rPr>
              <a:t>Understanding customer purchasing trends such as high performing genres, titles, average ratings and other variables gives insight into what products customers </a:t>
            </a:r>
            <a:r>
              <a:rPr lang="en-US" b="true" sz="2000" i="true" spc="26">
                <a:solidFill>
                  <a:srgbClr val="545454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WANT</a:t>
            </a:r>
            <a:r>
              <a:rPr lang="en-US" sz="2000" spc="26">
                <a:solidFill>
                  <a:srgbClr val="545454"/>
                </a:solidFill>
                <a:latin typeface="Public Sans"/>
                <a:ea typeface="Public Sans"/>
                <a:cs typeface="Public Sans"/>
                <a:sym typeface="Public Sans"/>
              </a:rPr>
              <a:t>. Utizling data to backup these claims creates a strong business plan.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314175" y="9929041"/>
            <a:ext cx="900036" cy="273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spc="20">
                <a:solidFill>
                  <a:srgbClr val="545454"/>
                </a:solidFill>
                <a:latin typeface="Public Sans"/>
                <a:ea typeface="Public Sans"/>
                <a:cs typeface="Public Sans"/>
                <a:sym typeface="Public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ACBC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7553" y="3703192"/>
            <a:ext cx="9868428" cy="5284799"/>
            <a:chOff x="0" y="0"/>
            <a:chExt cx="750541" cy="4019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0541" cy="401934"/>
            </a:xfrm>
            <a:custGeom>
              <a:avLst/>
              <a:gdLst/>
              <a:ahLst/>
              <a:cxnLst/>
              <a:rect r="r" b="b" t="t" l="l"/>
              <a:pathLst>
                <a:path h="401934" w="750541">
                  <a:moveTo>
                    <a:pt x="15323" y="0"/>
                  </a:moveTo>
                  <a:lnTo>
                    <a:pt x="735218" y="0"/>
                  </a:lnTo>
                  <a:cubicBezTo>
                    <a:pt x="743680" y="0"/>
                    <a:pt x="750541" y="6860"/>
                    <a:pt x="750541" y="15323"/>
                  </a:cubicBezTo>
                  <a:lnTo>
                    <a:pt x="750541" y="386611"/>
                  </a:lnTo>
                  <a:cubicBezTo>
                    <a:pt x="750541" y="395074"/>
                    <a:pt x="743680" y="401934"/>
                    <a:pt x="735218" y="401934"/>
                  </a:cubicBezTo>
                  <a:lnTo>
                    <a:pt x="15323" y="401934"/>
                  </a:lnTo>
                  <a:cubicBezTo>
                    <a:pt x="6860" y="401934"/>
                    <a:pt x="0" y="395074"/>
                    <a:pt x="0" y="386611"/>
                  </a:cubicBezTo>
                  <a:lnTo>
                    <a:pt x="0" y="15323"/>
                  </a:lnTo>
                  <a:cubicBezTo>
                    <a:pt x="0" y="6860"/>
                    <a:pt x="6860" y="0"/>
                    <a:pt x="15323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750541" cy="363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9"/>
                </a:lnSpc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1389488" y="1645570"/>
          <a:ext cx="6484137" cy="8222791"/>
        </p:xfrm>
        <a:graphic>
          <a:graphicData uri="http://schemas.openxmlformats.org/drawingml/2006/table">
            <a:tbl>
              <a:tblPr/>
              <a:tblGrid>
                <a:gridCol w="1943921"/>
                <a:gridCol w="4540217"/>
              </a:tblGrid>
              <a:tr h="8899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Hatton Bold"/>
                          <a:ea typeface="Hatton Bold"/>
                          <a:cs typeface="Hatton Bold"/>
                          <a:sym typeface="Hatton Bold"/>
                        </a:rPr>
                        <a:t>VARIABLE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82B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Hatton Bold"/>
                          <a:ea typeface="Hatton Bold"/>
                          <a:cs typeface="Hatton Bold"/>
                          <a:sym typeface="Hatton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82B6"/>
                    </a:solidFill>
                  </a:tcPr>
                </a:tc>
              </a:tr>
              <a:tr h="7655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Genre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Primary Category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F"/>
                    </a:solidFill>
                  </a:tcPr>
                </a:tc>
              </a:tr>
              <a:tr h="10621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Subgenre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Secondary Category; more detailed description of contents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F"/>
                    </a:solidFill>
                  </a:tcPr>
                </a:tc>
              </a:tr>
              <a:tr h="7655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Title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Invidivual book title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F"/>
                    </a:solidFill>
                  </a:tcPr>
                </a:tc>
              </a:tr>
              <a:tr h="7655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Series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Book series or franchise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F"/>
                    </a:solidFill>
                  </a:tcPr>
                </a:tc>
              </a:tr>
              <a:tr h="7874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Final Price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Retail book price at time of dataset pull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F"/>
                    </a:solidFill>
                  </a:tcPr>
                </a:tc>
              </a:tr>
              <a:tr h="13588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Review Count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Number of customer revies on Amazon listing; used to display customer engagement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F"/>
                    </a:solidFill>
                  </a:tcPr>
                </a:tc>
              </a:tr>
              <a:tr h="7655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Revenue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Derived metric; final price * reviews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F"/>
                    </a:solidFill>
                  </a:tcPr>
                </a:tc>
              </a:tr>
              <a:tr h="10621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Priority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(Standardized revenue * 0.6) + (Standardized engagement * 0.4)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CD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F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372058" y="3959259"/>
            <a:ext cx="9742532" cy="711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26">
                <a:solidFill>
                  <a:srgbClr val="545454"/>
                </a:solidFill>
                <a:latin typeface="Public Sans"/>
                <a:ea typeface="Public Sans"/>
                <a:cs typeface="Public Sans"/>
                <a:sym typeface="Public Sans"/>
              </a:rPr>
              <a:t>The data used in this analysis is from Amazon’s best-selling books list from 2021.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2058" y="5372823"/>
            <a:ext cx="9742532" cy="711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26">
                <a:solidFill>
                  <a:srgbClr val="545454"/>
                </a:solidFill>
                <a:latin typeface="Public Sans"/>
                <a:ea typeface="Public Sans"/>
                <a:cs typeface="Public Sans"/>
                <a:sym typeface="Public Sans"/>
              </a:rPr>
              <a:t>Since this business is online based, utilizing data from another online based retailer ensures consistency among customer purchasing patterns.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7064" y="2275207"/>
            <a:ext cx="11696960" cy="81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6600" spc="85">
                <a:solidFill>
                  <a:srgbClr val="545454"/>
                </a:solidFill>
                <a:latin typeface="Hatton Bold"/>
                <a:ea typeface="Hatton Bold"/>
                <a:cs typeface="Hatton Bold"/>
                <a:sym typeface="Hatton Bold"/>
              </a:rPr>
              <a:t>DATASET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2058" y="4935554"/>
            <a:ext cx="9742532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26" b="true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Why Amazon?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72058" y="6787927"/>
            <a:ext cx="9742532" cy="711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26">
                <a:solidFill>
                  <a:srgbClr val="545454"/>
                </a:solidFill>
                <a:latin typeface="Public Sans"/>
                <a:ea typeface="Public Sans"/>
                <a:cs typeface="Public Sans"/>
                <a:sym typeface="Public Sans"/>
              </a:rPr>
              <a:t>2200+ lines, each representing a book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26">
                <a:solidFill>
                  <a:srgbClr val="545454"/>
                </a:solidFill>
                <a:latin typeface="Public Sans"/>
                <a:ea typeface="Public Sans"/>
                <a:cs typeface="Public Sans"/>
                <a:sym typeface="Public Sans"/>
              </a:rPr>
              <a:t>Genre, reviews, ratings, price, series, etc.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2058" y="6350657"/>
            <a:ext cx="9742532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26" b="true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What does the dataset include?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7064" y="8203030"/>
            <a:ext cx="9742532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26">
                <a:solidFill>
                  <a:srgbClr val="545454"/>
                </a:solidFill>
                <a:latin typeface="Public Sans"/>
                <a:ea typeface="Public Sans"/>
                <a:cs typeface="Public Sans"/>
                <a:sym typeface="Public Sans"/>
              </a:rPr>
              <a:t>https://github.com/luminati-io/Amazon-popular-books-dataset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7064" y="7765760"/>
            <a:ext cx="9742532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26" b="true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Source: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314175" y="9929041"/>
            <a:ext cx="900036" cy="273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spc="20">
                <a:solidFill>
                  <a:srgbClr val="545454"/>
                </a:solidFill>
                <a:latin typeface="Public Sans"/>
                <a:ea typeface="Public Sans"/>
                <a:cs typeface="Public Sans"/>
                <a:sym typeface="Public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CBC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7553" y="3703192"/>
            <a:ext cx="14946820" cy="1595369"/>
            <a:chOff x="0" y="0"/>
            <a:chExt cx="1136776" cy="1213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6776" cy="121335"/>
            </a:xfrm>
            <a:custGeom>
              <a:avLst/>
              <a:gdLst/>
              <a:ahLst/>
              <a:cxnLst/>
              <a:rect r="r" b="b" t="t" l="l"/>
              <a:pathLst>
                <a:path h="121335" w="1136776">
                  <a:moveTo>
                    <a:pt x="10116" y="0"/>
                  </a:moveTo>
                  <a:lnTo>
                    <a:pt x="1126660" y="0"/>
                  </a:lnTo>
                  <a:cubicBezTo>
                    <a:pt x="1129343" y="0"/>
                    <a:pt x="1131916" y="1066"/>
                    <a:pt x="1133813" y="2963"/>
                  </a:cubicBezTo>
                  <a:cubicBezTo>
                    <a:pt x="1135711" y="4860"/>
                    <a:pt x="1136776" y="7433"/>
                    <a:pt x="1136776" y="10116"/>
                  </a:cubicBezTo>
                  <a:lnTo>
                    <a:pt x="1136776" y="111219"/>
                  </a:lnTo>
                  <a:cubicBezTo>
                    <a:pt x="1136776" y="113902"/>
                    <a:pt x="1135711" y="116475"/>
                    <a:pt x="1133813" y="118372"/>
                  </a:cubicBezTo>
                  <a:cubicBezTo>
                    <a:pt x="1131916" y="120270"/>
                    <a:pt x="1129343" y="121335"/>
                    <a:pt x="1126660" y="121335"/>
                  </a:cubicBezTo>
                  <a:lnTo>
                    <a:pt x="10116" y="121335"/>
                  </a:lnTo>
                  <a:cubicBezTo>
                    <a:pt x="7433" y="121335"/>
                    <a:pt x="4860" y="120270"/>
                    <a:pt x="2963" y="118372"/>
                  </a:cubicBezTo>
                  <a:cubicBezTo>
                    <a:pt x="1066" y="116475"/>
                    <a:pt x="0" y="113902"/>
                    <a:pt x="0" y="111219"/>
                  </a:cubicBezTo>
                  <a:lnTo>
                    <a:pt x="0" y="10116"/>
                  </a:lnTo>
                  <a:cubicBezTo>
                    <a:pt x="0" y="7433"/>
                    <a:pt x="1066" y="4860"/>
                    <a:pt x="2963" y="2963"/>
                  </a:cubicBezTo>
                  <a:cubicBezTo>
                    <a:pt x="4860" y="1066"/>
                    <a:pt x="7433" y="0"/>
                    <a:pt x="10116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1136776" cy="83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31999" y="5935846"/>
            <a:ext cx="5824002" cy="3892399"/>
            <a:chOff x="0" y="0"/>
            <a:chExt cx="7765337" cy="51898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68189" cy="5189866"/>
            </a:xfrm>
            <a:custGeom>
              <a:avLst/>
              <a:gdLst/>
              <a:ahLst/>
              <a:cxnLst/>
              <a:rect r="r" b="b" t="t" l="l"/>
              <a:pathLst>
                <a:path h="5189866" w="4768189">
                  <a:moveTo>
                    <a:pt x="0" y="0"/>
                  </a:moveTo>
                  <a:lnTo>
                    <a:pt x="4768189" y="0"/>
                  </a:lnTo>
                  <a:lnTo>
                    <a:pt x="4768189" y="5189866"/>
                  </a:lnTo>
                  <a:lnTo>
                    <a:pt x="0" y="5189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5400000">
              <a:off x="3671830" y="1096359"/>
              <a:ext cx="5189866" cy="2997147"/>
            </a:xfrm>
            <a:custGeom>
              <a:avLst/>
              <a:gdLst/>
              <a:ahLst/>
              <a:cxnLst/>
              <a:rect r="r" b="b" t="t" l="l"/>
              <a:pathLst>
                <a:path h="2997147" w="5189866">
                  <a:moveTo>
                    <a:pt x="0" y="0"/>
                  </a:moveTo>
                  <a:lnTo>
                    <a:pt x="5189866" y="0"/>
                  </a:lnTo>
                  <a:lnTo>
                    <a:pt x="5189866" y="2997148"/>
                  </a:lnTo>
                  <a:lnTo>
                    <a:pt x="0" y="299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97064" y="2353336"/>
            <a:ext cx="11696960" cy="81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6600" spc="85">
                <a:solidFill>
                  <a:srgbClr val="545454"/>
                </a:solidFill>
                <a:latin typeface="Hatton Bold"/>
                <a:ea typeface="Hatton Bold"/>
                <a:cs typeface="Hatton Bold"/>
                <a:sym typeface="Hatton Bold"/>
              </a:rPr>
              <a:t>KEY FINDINGS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1567" y="4264690"/>
            <a:ext cx="14618791" cy="415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spc="31" b="true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Data-driven findings detailing different parts of the dataset to answer the problem statement.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314175" y="9929041"/>
            <a:ext cx="900036" cy="273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spc="20">
                <a:solidFill>
                  <a:srgbClr val="545454"/>
                </a:solidFill>
                <a:latin typeface="Public Sans"/>
                <a:ea typeface="Public Sans"/>
                <a:cs typeface="Public Sans"/>
                <a:sym typeface="Public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473" y="58169"/>
            <a:ext cx="5791135" cy="3345206"/>
            <a:chOff x="0" y="0"/>
            <a:chExt cx="1136776" cy="6566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6776" cy="656651"/>
            </a:xfrm>
            <a:custGeom>
              <a:avLst/>
              <a:gdLst/>
              <a:ahLst/>
              <a:cxnLst/>
              <a:rect r="r" b="b" t="t" l="l"/>
              <a:pathLst>
                <a:path h="656651" w="1136776">
                  <a:moveTo>
                    <a:pt x="26110" y="0"/>
                  </a:moveTo>
                  <a:lnTo>
                    <a:pt x="1110666" y="0"/>
                  </a:lnTo>
                  <a:cubicBezTo>
                    <a:pt x="1117591" y="0"/>
                    <a:pt x="1124232" y="2751"/>
                    <a:pt x="1129129" y="7648"/>
                  </a:cubicBezTo>
                  <a:cubicBezTo>
                    <a:pt x="1134025" y="12544"/>
                    <a:pt x="1136776" y="19186"/>
                    <a:pt x="1136776" y="26110"/>
                  </a:cubicBezTo>
                  <a:lnTo>
                    <a:pt x="1136776" y="630540"/>
                  </a:lnTo>
                  <a:cubicBezTo>
                    <a:pt x="1136776" y="637465"/>
                    <a:pt x="1134025" y="644106"/>
                    <a:pt x="1129129" y="649003"/>
                  </a:cubicBezTo>
                  <a:cubicBezTo>
                    <a:pt x="1124232" y="653900"/>
                    <a:pt x="1117591" y="656651"/>
                    <a:pt x="1110666" y="656651"/>
                  </a:cubicBezTo>
                  <a:lnTo>
                    <a:pt x="26110" y="656651"/>
                  </a:lnTo>
                  <a:cubicBezTo>
                    <a:pt x="19186" y="656651"/>
                    <a:pt x="12544" y="653900"/>
                    <a:pt x="7648" y="649003"/>
                  </a:cubicBezTo>
                  <a:cubicBezTo>
                    <a:pt x="2751" y="644106"/>
                    <a:pt x="0" y="637465"/>
                    <a:pt x="0" y="630540"/>
                  </a:cubicBezTo>
                  <a:lnTo>
                    <a:pt x="0" y="26110"/>
                  </a:lnTo>
                  <a:cubicBezTo>
                    <a:pt x="0" y="19186"/>
                    <a:pt x="2751" y="12544"/>
                    <a:pt x="7648" y="7648"/>
                  </a:cubicBezTo>
                  <a:cubicBezTo>
                    <a:pt x="12544" y="2751"/>
                    <a:pt x="19186" y="0"/>
                    <a:pt x="26110" y="0"/>
                  </a:cubicBezTo>
                  <a:close/>
                </a:path>
              </a:pathLst>
            </a:custGeom>
            <a:solidFill>
              <a:srgbClr val="BCD2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1136776" cy="618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473" y="3487152"/>
            <a:ext cx="5791135" cy="6648423"/>
            <a:chOff x="0" y="0"/>
            <a:chExt cx="1136776" cy="13050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6776" cy="1305059"/>
            </a:xfrm>
            <a:custGeom>
              <a:avLst/>
              <a:gdLst/>
              <a:ahLst/>
              <a:cxnLst/>
              <a:rect r="r" b="b" t="t" l="l"/>
              <a:pathLst>
                <a:path h="1305059" w="1136776">
                  <a:moveTo>
                    <a:pt x="26110" y="0"/>
                  </a:moveTo>
                  <a:lnTo>
                    <a:pt x="1110666" y="0"/>
                  </a:lnTo>
                  <a:cubicBezTo>
                    <a:pt x="1117591" y="0"/>
                    <a:pt x="1124232" y="2751"/>
                    <a:pt x="1129129" y="7648"/>
                  </a:cubicBezTo>
                  <a:cubicBezTo>
                    <a:pt x="1134025" y="12544"/>
                    <a:pt x="1136776" y="19186"/>
                    <a:pt x="1136776" y="26110"/>
                  </a:cubicBezTo>
                  <a:lnTo>
                    <a:pt x="1136776" y="1278948"/>
                  </a:lnTo>
                  <a:cubicBezTo>
                    <a:pt x="1136776" y="1285873"/>
                    <a:pt x="1134025" y="1292514"/>
                    <a:pt x="1129129" y="1297411"/>
                  </a:cubicBezTo>
                  <a:cubicBezTo>
                    <a:pt x="1124232" y="1302308"/>
                    <a:pt x="1117591" y="1305059"/>
                    <a:pt x="1110666" y="1305059"/>
                  </a:cubicBezTo>
                  <a:lnTo>
                    <a:pt x="26110" y="1305059"/>
                  </a:lnTo>
                  <a:cubicBezTo>
                    <a:pt x="19186" y="1305059"/>
                    <a:pt x="12544" y="1302308"/>
                    <a:pt x="7648" y="1297411"/>
                  </a:cubicBezTo>
                  <a:cubicBezTo>
                    <a:pt x="2751" y="1292514"/>
                    <a:pt x="0" y="1285873"/>
                    <a:pt x="0" y="1278948"/>
                  </a:cubicBezTo>
                  <a:lnTo>
                    <a:pt x="0" y="26110"/>
                  </a:lnTo>
                  <a:cubicBezTo>
                    <a:pt x="0" y="19186"/>
                    <a:pt x="2751" y="12544"/>
                    <a:pt x="7648" y="7648"/>
                  </a:cubicBezTo>
                  <a:cubicBezTo>
                    <a:pt x="12544" y="2751"/>
                    <a:pt x="19186" y="0"/>
                    <a:pt x="26110" y="0"/>
                  </a:cubicBezTo>
                  <a:close/>
                </a:path>
              </a:pathLst>
            </a:custGeom>
            <a:solidFill>
              <a:srgbClr val="E7F0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136776" cy="1266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916807" y="751833"/>
            <a:ext cx="12284383" cy="8783334"/>
          </a:xfrm>
          <a:custGeom>
            <a:avLst/>
            <a:gdLst/>
            <a:ahLst/>
            <a:cxnLst/>
            <a:rect r="r" b="b" t="t" l="l"/>
            <a:pathLst>
              <a:path h="8783334" w="12284383">
                <a:moveTo>
                  <a:pt x="0" y="0"/>
                </a:moveTo>
                <a:lnTo>
                  <a:pt x="12284383" y="0"/>
                </a:lnTo>
                <a:lnTo>
                  <a:pt x="12284383" y="8783334"/>
                </a:lnTo>
                <a:lnTo>
                  <a:pt x="0" y="87833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57150" cap="sq">
            <a:solidFill>
              <a:srgbClr val="BCD2F4"/>
            </a:solidFill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38473" y="466473"/>
            <a:ext cx="5791135" cy="259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34"/>
              </a:lnSpc>
            </a:pPr>
            <a:r>
              <a:rPr lang="en-US" b="true" sz="6600" spc="85">
                <a:solidFill>
                  <a:srgbClr val="545454"/>
                </a:solidFill>
                <a:latin typeface="Hatton Bold"/>
                <a:ea typeface="Hatton Bold"/>
                <a:cs typeface="Hatton Bold"/>
                <a:sym typeface="Hatton Bold"/>
              </a:rPr>
              <a:t>HIGHEST</a:t>
            </a:r>
          </a:p>
          <a:p>
            <a:pPr algn="ctr">
              <a:lnSpc>
                <a:spcPts val="6534"/>
              </a:lnSpc>
            </a:pPr>
            <a:r>
              <a:rPr lang="en-US" b="true" sz="6600" spc="85">
                <a:solidFill>
                  <a:srgbClr val="545454"/>
                </a:solidFill>
                <a:latin typeface="Hatton Bold"/>
                <a:ea typeface="Hatton Bold"/>
                <a:cs typeface="Hatton Bold"/>
                <a:sym typeface="Hatton Bold"/>
              </a:rPr>
              <a:t>GROSSING</a:t>
            </a:r>
          </a:p>
          <a:p>
            <a:pPr algn="ctr">
              <a:lnSpc>
                <a:spcPts val="6534"/>
              </a:lnSpc>
            </a:pPr>
            <a:r>
              <a:rPr lang="en-US" b="true" sz="6600" spc="85">
                <a:solidFill>
                  <a:srgbClr val="545454"/>
                </a:solidFill>
                <a:latin typeface="Hatton Bold"/>
                <a:ea typeface="Hatton Bold"/>
                <a:cs typeface="Hatton Bold"/>
                <a:sym typeface="Hatton Bold"/>
              </a:rPr>
              <a:t>GENRES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8015" y="3966762"/>
            <a:ext cx="5197325" cy="4572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spc="33" b="true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Fiction is the highest grossing genre, followed by Children’s Books, Mystery/Thriller, Teen &amp; Young Adult and Biographies &amp; Memoirs.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b="true" sz="2600" spc="33" u="sng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Key Takeaways: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 spc="33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Fiction dominates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 spc="33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Children’s Books outperform most non-fiction genres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314175" y="9929041"/>
            <a:ext cx="900036" cy="273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spc="20">
                <a:solidFill>
                  <a:srgbClr val="545454"/>
                </a:solidFill>
                <a:latin typeface="Public Sans"/>
                <a:ea typeface="Public Sans"/>
                <a:cs typeface="Public Sans"/>
                <a:sym typeface="Public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473" y="58169"/>
            <a:ext cx="5791135" cy="3345206"/>
            <a:chOff x="0" y="0"/>
            <a:chExt cx="1136776" cy="6566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6776" cy="656651"/>
            </a:xfrm>
            <a:custGeom>
              <a:avLst/>
              <a:gdLst/>
              <a:ahLst/>
              <a:cxnLst/>
              <a:rect r="r" b="b" t="t" l="l"/>
              <a:pathLst>
                <a:path h="656651" w="1136776">
                  <a:moveTo>
                    <a:pt x="26110" y="0"/>
                  </a:moveTo>
                  <a:lnTo>
                    <a:pt x="1110666" y="0"/>
                  </a:lnTo>
                  <a:cubicBezTo>
                    <a:pt x="1117591" y="0"/>
                    <a:pt x="1124232" y="2751"/>
                    <a:pt x="1129129" y="7648"/>
                  </a:cubicBezTo>
                  <a:cubicBezTo>
                    <a:pt x="1134025" y="12544"/>
                    <a:pt x="1136776" y="19186"/>
                    <a:pt x="1136776" y="26110"/>
                  </a:cubicBezTo>
                  <a:lnTo>
                    <a:pt x="1136776" y="630540"/>
                  </a:lnTo>
                  <a:cubicBezTo>
                    <a:pt x="1136776" y="637465"/>
                    <a:pt x="1134025" y="644106"/>
                    <a:pt x="1129129" y="649003"/>
                  </a:cubicBezTo>
                  <a:cubicBezTo>
                    <a:pt x="1124232" y="653900"/>
                    <a:pt x="1117591" y="656651"/>
                    <a:pt x="1110666" y="656651"/>
                  </a:cubicBezTo>
                  <a:lnTo>
                    <a:pt x="26110" y="656651"/>
                  </a:lnTo>
                  <a:cubicBezTo>
                    <a:pt x="19186" y="656651"/>
                    <a:pt x="12544" y="653900"/>
                    <a:pt x="7648" y="649003"/>
                  </a:cubicBezTo>
                  <a:cubicBezTo>
                    <a:pt x="2751" y="644106"/>
                    <a:pt x="0" y="637465"/>
                    <a:pt x="0" y="630540"/>
                  </a:cubicBezTo>
                  <a:lnTo>
                    <a:pt x="0" y="26110"/>
                  </a:lnTo>
                  <a:cubicBezTo>
                    <a:pt x="0" y="19186"/>
                    <a:pt x="2751" y="12544"/>
                    <a:pt x="7648" y="7648"/>
                  </a:cubicBezTo>
                  <a:cubicBezTo>
                    <a:pt x="12544" y="2751"/>
                    <a:pt x="19186" y="0"/>
                    <a:pt x="26110" y="0"/>
                  </a:cubicBezTo>
                  <a:close/>
                </a:path>
              </a:pathLst>
            </a:custGeom>
            <a:solidFill>
              <a:srgbClr val="BCD2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1136776" cy="618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473" y="3487152"/>
            <a:ext cx="5791135" cy="6648423"/>
            <a:chOff x="0" y="0"/>
            <a:chExt cx="1136776" cy="13050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6776" cy="1305059"/>
            </a:xfrm>
            <a:custGeom>
              <a:avLst/>
              <a:gdLst/>
              <a:ahLst/>
              <a:cxnLst/>
              <a:rect r="r" b="b" t="t" l="l"/>
              <a:pathLst>
                <a:path h="1305059" w="1136776">
                  <a:moveTo>
                    <a:pt x="26110" y="0"/>
                  </a:moveTo>
                  <a:lnTo>
                    <a:pt x="1110666" y="0"/>
                  </a:lnTo>
                  <a:cubicBezTo>
                    <a:pt x="1117591" y="0"/>
                    <a:pt x="1124232" y="2751"/>
                    <a:pt x="1129129" y="7648"/>
                  </a:cubicBezTo>
                  <a:cubicBezTo>
                    <a:pt x="1134025" y="12544"/>
                    <a:pt x="1136776" y="19186"/>
                    <a:pt x="1136776" y="26110"/>
                  </a:cubicBezTo>
                  <a:lnTo>
                    <a:pt x="1136776" y="1278948"/>
                  </a:lnTo>
                  <a:cubicBezTo>
                    <a:pt x="1136776" y="1285873"/>
                    <a:pt x="1134025" y="1292514"/>
                    <a:pt x="1129129" y="1297411"/>
                  </a:cubicBezTo>
                  <a:cubicBezTo>
                    <a:pt x="1124232" y="1302308"/>
                    <a:pt x="1117591" y="1305059"/>
                    <a:pt x="1110666" y="1305059"/>
                  </a:cubicBezTo>
                  <a:lnTo>
                    <a:pt x="26110" y="1305059"/>
                  </a:lnTo>
                  <a:cubicBezTo>
                    <a:pt x="19186" y="1305059"/>
                    <a:pt x="12544" y="1302308"/>
                    <a:pt x="7648" y="1297411"/>
                  </a:cubicBezTo>
                  <a:cubicBezTo>
                    <a:pt x="2751" y="1292514"/>
                    <a:pt x="0" y="1285873"/>
                    <a:pt x="0" y="1278948"/>
                  </a:cubicBezTo>
                  <a:lnTo>
                    <a:pt x="0" y="26110"/>
                  </a:lnTo>
                  <a:cubicBezTo>
                    <a:pt x="0" y="19186"/>
                    <a:pt x="2751" y="12544"/>
                    <a:pt x="7648" y="7648"/>
                  </a:cubicBezTo>
                  <a:cubicBezTo>
                    <a:pt x="12544" y="2751"/>
                    <a:pt x="19186" y="0"/>
                    <a:pt x="26110" y="0"/>
                  </a:cubicBezTo>
                  <a:close/>
                </a:path>
              </a:pathLst>
            </a:custGeom>
            <a:solidFill>
              <a:srgbClr val="E7F0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136776" cy="1266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901439" y="524452"/>
            <a:ext cx="12317460" cy="9238095"/>
          </a:xfrm>
          <a:custGeom>
            <a:avLst/>
            <a:gdLst/>
            <a:ahLst/>
            <a:cxnLst/>
            <a:rect r="r" b="b" t="t" l="l"/>
            <a:pathLst>
              <a:path h="9238095" w="12317460">
                <a:moveTo>
                  <a:pt x="0" y="0"/>
                </a:moveTo>
                <a:lnTo>
                  <a:pt x="12317460" y="0"/>
                </a:lnTo>
                <a:lnTo>
                  <a:pt x="12317460" y="9238096"/>
                </a:lnTo>
                <a:lnTo>
                  <a:pt x="0" y="92380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57150" cap="sq">
            <a:solidFill>
              <a:srgbClr val="BCD2F4"/>
            </a:solidFill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38473" y="557383"/>
            <a:ext cx="5791135" cy="241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38"/>
              </a:lnSpc>
            </a:pPr>
            <a:r>
              <a:rPr lang="en-US" b="true" sz="6200" spc="80">
                <a:solidFill>
                  <a:srgbClr val="545454"/>
                </a:solidFill>
                <a:latin typeface="Hatton Bold"/>
                <a:ea typeface="Hatton Bold"/>
                <a:cs typeface="Hatton Bold"/>
                <a:sym typeface="Hatton Bold"/>
              </a:rPr>
              <a:t>HIGHEST</a:t>
            </a:r>
          </a:p>
          <a:p>
            <a:pPr algn="ctr">
              <a:lnSpc>
                <a:spcPts val="6138"/>
              </a:lnSpc>
            </a:pPr>
            <a:r>
              <a:rPr lang="en-US" b="true" sz="6200" spc="80">
                <a:solidFill>
                  <a:srgbClr val="545454"/>
                </a:solidFill>
                <a:latin typeface="Hatton Bold"/>
                <a:ea typeface="Hatton Bold"/>
                <a:cs typeface="Hatton Bold"/>
                <a:sym typeface="Hatton Bold"/>
              </a:rPr>
              <a:t>GROSSING</a:t>
            </a:r>
          </a:p>
          <a:p>
            <a:pPr algn="ctr">
              <a:lnSpc>
                <a:spcPts val="6138"/>
              </a:lnSpc>
            </a:pPr>
            <a:r>
              <a:rPr lang="en-US" b="true" sz="6200" spc="80">
                <a:solidFill>
                  <a:srgbClr val="545454"/>
                </a:solidFill>
                <a:latin typeface="Hatton Bold"/>
                <a:ea typeface="Hatton Bold"/>
                <a:cs typeface="Hatton Bold"/>
                <a:sym typeface="Hatton Bold"/>
              </a:rPr>
              <a:t>SUBGENRES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8015" y="3966762"/>
            <a:ext cx="5197325" cy="5487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spc="33" b="true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Subgenre revenue contributions within each top performing genre.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sz="2600" spc="33" b="true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Displayed with gradient for quick contribution comparison.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b="true" sz="2600" spc="33" u="sng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Key Takeaway: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 spc="33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Subgenre performance varies drastically within a  genre</a:t>
            </a: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7314175" y="9929041"/>
            <a:ext cx="900036" cy="273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spc="20">
                <a:solidFill>
                  <a:srgbClr val="545454"/>
                </a:solidFill>
                <a:latin typeface="Public Sans"/>
                <a:ea typeface="Public Sans"/>
                <a:cs typeface="Public Sans"/>
                <a:sym typeface="Public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473" y="58169"/>
            <a:ext cx="5791135" cy="3345206"/>
            <a:chOff x="0" y="0"/>
            <a:chExt cx="1136776" cy="6566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6776" cy="656651"/>
            </a:xfrm>
            <a:custGeom>
              <a:avLst/>
              <a:gdLst/>
              <a:ahLst/>
              <a:cxnLst/>
              <a:rect r="r" b="b" t="t" l="l"/>
              <a:pathLst>
                <a:path h="656651" w="1136776">
                  <a:moveTo>
                    <a:pt x="26110" y="0"/>
                  </a:moveTo>
                  <a:lnTo>
                    <a:pt x="1110666" y="0"/>
                  </a:lnTo>
                  <a:cubicBezTo>
                    <a:pt x="1117591" y="0"/>
                    <a:pt x="1124232" y="2751"/>
                    <a:pt x="1129129" y="7648"/>
                  </a:cubicBezTo>
                  <a:cubicBezTo>
                    <a:pt x="1134025" y="12544"/>
                    <a:pt x="1136776" y="19186"/>
                    <a:pt x="1136776" y="26110"/>
                  </a:cubicBezTo>
                  <a:lnTo>
                    <a:pt x="1136776" y="630540"/>
                  </a:lnTo>
                  <a:cubicBezTo>
                    <a:pt x="1136776" y="637465"/>
                    <a:pt x="1134025" y="644106"/>
                    <a:pt x="1129129" y="649003"/>
                  </a:cubicBezTo>
                  <a:cubicBezTo>
                    <a:pt x="1124232" y="653900"/>
                    <a:pt x="1117591" y="656651"/>
                    <a:pt x="1110666" y="656651"/>
                  </a:cubicBezTo>
                  <a:lnTo>
                    <a:pt x="26110" y="656651"/>
                  </a:lnTo>
                  <a:cubicBezTo>
                    <a:pt x="19186" y="656651"/>
                    <a:pt x="12544" y="653900"/>
                    <a:pt x="7648" y="649003"/>
                  </a:cubicBezTo>
                  <a:cubicBezTo>
                    <a:pt x="2751" y="644106"/>
                    <a:pt x="0" y="637465"/>
                    <a:pt x="0" y="630540"/>
                  </a:cubicBezTo>
                  <a:lnTo>
                    <a:pt x="0" y="26110"/>
                  </a:lnTo>
                  <a:cubicBezTo>
                    <a:pt x="0" y="19186"/>
                    <a:pt x="2751" y="12544"/>
                    <a:pt x="7648" y="7648"/>
                  </a:cubicBezTo>
                  <a:cubicBezTo>
                    <a:pt x="12544" y="2751"/>
                    <a:pt x="19186" y="0"/>
                    <a:pt x="26110" y="0"/>
                  </a:cubicBezTo>
                  <a:close/>
                </a:path>
              </a:pathLst>
            </a:custGeom>
            <a:solidFill>
              <a:srgbClr val="BCD2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1136776" cy="618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473" y="3487152"/>
            <a:ext cx="5791135" cy="6648423"/>
            <a:chOff x="0" y="0"/>
            <a:chExt cx="1136776" cy="13050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6776" cy="1305059"/>
            </a:xfrm>
            <a:custGeom>
              <a:avLst/>
              <a:gdLst/>
              <a:ahLst/>
              <a:cxnLst/>
              <a:rect r="r" b="b" t="t" l="l"/>
              <a:pathLst>
                <a:path h="1305059" w="1136776">
                  <a:moveTo>
                    <a:pt x="26110" y="0"/>
                  </a:moveTo>
                  <a:lnTo>
                    <a:pt x="1110666" y="0"/>
                  </a:lnTo>
                  <a:cubicBezTo>
                    <a:pt x="1117591" y="0"/>
                    <a:pt x="1124232" y="2751"/>
                    <a:pt x="1129129" y="7648"/>
                  </a:cubicBezTo>
                  <a:cubicBezTo>
                    <a:pt x="1134025" y="12544"/>
                    <a:pt x="1136776" y="19186"/>
                    <a:pt x="1136776" y="26110"/>
                  </a:cubicBezTo>
                  <a:lnTo>
                    <a:pt x="1136776" y="1278948"/>
                  </a:lnTo>
                  <a:cubicBezTo>
                    <a:pt x="1136776" y="1285873"/>
                    <a:pt x="1134025" y="1292514"/>
                    <a:pt x="1129129" y="1297411"/>
                  </a:cubicBezTo>
                  <a:cubicBezTo>
                    <a:pt x="1124232" y="1302308"/>
                    <a:pt x="1117591" y="1305059"/>
                    <a:pt x="1110666" y="1305059"/>
                  </a:cubicBezTo>
                  <a:lnTo>
                    <a:pt x="26110" y="1305059"/>
                  </a:lnTo>
                  <a:cubicBezTo>
                    <a:pt x="19186" y="1305059"/>
                    <a:pt x="12544" y="1302308"/>
                    <a:pt x="7648" y="1297411"/>
                  </a:cubicBezTo>
                  <a:cubicBezTo>
                    <a:pt x="2751" y="1292514"/>
                    <a:pt x="0" y="1285873"/>
                    <a:pt x="0" y="1278948"/>
                  </a:cubicBezTo>
                  <a:lnTo>
                    <a:pt x="0" y="26110"/>
                  </a:lnTo>
                  <a:cubicBezTo>
                    <a:pt x="0" y="19186"/>
                    <a:pt x="2751" y="12544"/>
                    <a:pt x="7648" y="7648"/>
                  </a:cubicBezTo>
                  <a:cubicBezTo>
                    <a:pt x="12544" y="2751"/>
                    <a:pt x="19186" y="0"/>
                    <a:pt x="26110" y="0"/>
                  </a:cubicBezTo>
                  <a:close/>
                </a:path>
              </a:pathLst>
            </a:custGeom>
            <a:solidFill>
              <a:srgbClr val="E7F0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136776" cy="1266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883828" y="743140"/>
            <a:ext cx="12357956" cy="8835939"/>
          </a:xfrm>
          <a:custGeom>
            <a:avLst/>
            <a:gdLst/>
            <a:ahLst/>
            <a:cxnLst/>
            <a:rect r="r" b="b" t="t" l="l"/>
            <a:pathLst>
              <a:path h="8835939" w="12357956">
                <a:moveTo>
                  <a:pt x="0" y="0"/>
                </a:moveTo>
                <a:lnTo>
                  <a:pt x="12357956" y="0"/>
                </a:lnTo>
                <a:lnTo>
                  <a:pt x="12357956" y="8835939"/>
                </a:lnTo>
                <a:lnTo>
                  <a:pt x="0" y="88359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57150" cap="sq">
            <a:solidFill>
              <a:srgbClr val="BCD2F4"/>
            </a:solidFill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333627" y="466473"/>
            <a:ext cx="5166102" cy="259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33"/>
              </a:lnSpc>
            </a:pPr>
            <a:r>
              <a:rPr lang="en-US" b="true" sz="6599" spc="85">
                <a:solidFill>
                  <a:srgbClr val="545454"/>
                </a:solidFill>
                <a:latin typeface="Hatton Bold"/>
                <a:ea typeface="Hatton Bold"/>
                <a:cs typeface="Hatton Bold"/>
                <a:sym typeface="Hatton Bold"/>
              </a:rPr>
              <a:t>TOP PRIORITY TITLES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5377" y="3793142"/>
            <a:ext cx="5197325" cy="6401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spc="33" b="true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Top 10 prioritity individual titles determined by </a:t>
            </a:r>
            <a:r>
              <a:rPr lang="en-US" b="true" sz="2600" i="true" spc="33">
                <a:solidFill>
                  <a:srgbClr val="545454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Priority Score</a:t>
            </a:r>
            <a:r>
              <a:rPr lang="en-US" sz="2600" spc="33" b="true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, a measure of revenue &amp; customer engagement. 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sz="2600" spc="33" b="true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 high priority score indicates a high grossing title with a high number of reviews.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b="true" sz="2600" spc="33" u="sng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Key Takeaway: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 spc="33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Customer engagement &amp; revenue create tangible evidence for what to stock</a:t>
            </a: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7314175" y="9929041"/>
            <a:ext cx="900036" cy="273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spc="20">
                <a:solidFill>
                  <a:srgbClr val="545454"/>
                </a:solidFill>
                <a:latin typeface="Public Sans"/>
                <a:ea typeface="Public Sans"/>
                <a:cs typeface="Public Sans"/>
                <a:sym typeface="Public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473" y="58169"/>
            <a:ext cx="5791135" cy="3345206"/>
            <a:chOff x="0" y="0"/>
            <a:chExt cx="1136776" cy="6566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6776" cy="656651"/>
            </a:xfrm>
            <a:custGeom>
              <a:avLst/>
              <a:gdLst/>
              <a:ahLst/>
              <a:cxnLst/>
              <a:rect r="r" b="b" t="t" l="l"/>
              <a:pathLst>
                <a:path h="656651" w="1136776">
                  <a:moveTo>
                    <a:pt x="26110" y="0"/>
                  </a:moveTo>
                  <a:lnTo>
                    <a:pt x="1110666" y="0"/>
                  </a:lnTo>
                  <a:cubicBezTo>
                    <a:pt x="1117591" y="0"/>
                    <a:pt x="1124232" y="2751"/>
                    <a:pt x="1129129" y="7648"/>
                  </a:cubicBezTo>
                  <a:cubicBezTo>
                    <a:pt x="1134025" y="12544"/>
                    <a:pt x="1136776" y="19186"/>
                    <a:pt x="1136776" y="26110"/>
                  </a:cubicBezTo>
                  <a:lnTo>
                    <a:pt x="1136776" y="630540"/>
                  </a:lnTo>
                  <a:cubicBezTo>
                    <a:pt x="1136776" y="637465"/>
                    <a:pt x="1134025" y="644106"/>
                    <a:pt x="1129129" y="649003"/>
                  </a:cubicBezTo>
                  <a:cubicBezTo>
                    <a:pt x="1124232" y="653900"/>
                    <a:pt x="1117591" y="656651"/>
                    <a:pt x="1110666" y="656651"/>
                  </a:cubicBezTo>
                  <a:lnTo>
                    <a:pt x="26110" y="656651"/>
                  </a:lnTo>
                  <a:cubicBezTo>
                    <a:pt x="19186" y="656651"/>
                    <a:pt x="12544" y="653900"/>
                    <a:pt x="7648" y="649003"/>
                  </a:cubicBezTo>
                  <a:cubicBezTo>
                    <a:pt x="2751" y="644106"/>
                    <a:pt x="0" y="637465"/>
                    <a:pt x="0" y="630540"/>
                  </a:cubicBezTo>
                  <a:lnTo>
                    <a:pt x="0" y="26110"/>
                  </a:lnTo>
                  <a:cubicBezTo>
                    <a:pt x="0" y="19186"/>
                    <a:pt x="2751" y="12544"/>
                    <a:pt x="7648" y="7648"/>
                  </a:cubicBezTo>
                  <a:cubicBezTo>
                    <a:pt x="12544" y="2751"/>
                    <a:pt x="19186" y="0"/>
                    <a:pt x="26110" y="0"/>
                  </a:cubicBezTo>
                  <a:close/>
                </a:path>
              </a:pathLst>
            </a:custGeom>
            <a:solidFill>
              <a:srgbClr val="BCD2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1136776" cy="618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473" y="3487152"/>
            <a:ext cx="5791135" cy="6648423"/>
            <a:chOff x="0" y="0"/>
            <a:chExt cx="1136776" cy="13050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6776" cy="1305059"/>
            </a:xfrm>
            <a:custGeom>
              <a:avLst/>
              <a:gdLst/>
              <a:ahLst/>
              <a:cxnLst/>
              <a:rect r="r" b="b" t="t" l="l"/>
              <a:pathLst>
                <a:path h="1305059" w="1136776">
                  <a:moveTo>
                    <a:pt x="26110" y="0"/>
                  </a:moveTo>
                  <a:lnTo>
                    <a:pt x="1110666" y="0"/>
                  </a:lnTo>
                  <a:cubicBezTo>
                    <a:pt x="1117591" y="0"/>
                    <a:pt x="1124232" y="2751"/>
                    <a:pt x="1129129" y="7648"/>
                  </a:cubicBezTo>
                  <a:cubicBezTo>
                    <a:pt x="1134025" y="12544"/>
                    <a:pt x="1136776" y="19186"/>
                    <a:pt x="1136776" y="26110"/>
                  </a:cubicBezTo>
                  <a:lnTo>
                    <a:pt x="1136776" y="1278948"/>
                  </a:lnTo>
                  <a:cubicBezTo>
                    <a:pt x="1136776" y="1285873"/>
                    <a:pt x="1134025" y="1292514"/>
                    <a:pt x="1129129" y="1297411"/>
                  </a:cubicBezTo>
                  <a:cubicBezTo>
                    <a:pt x="1124232" y="1302308"/>
                    <a:pt x="1117591" y="1305059"/>
                    <a:pt x="1110666" y="1305059"/>
                  </a:cubicBezTo>
                  <a:lnTo>
                    <a:pt x="26110" y="1305059"/>
                  </a:lnTo>
                  <a:cubicBezTo>
                    <a:pt x="19186" y="1305059"/>
                    <a:pt x="12544" y="1302308"/>
                    <a:pt x="7648" y="1297411"/>
                  </a:cubicBezTo>
                  <a:cubicBezTo>
                    <a:pt x="2751" y="1292514"/>
                    <a:pt x="0" y="1285873"/>
                    <a:pt x="0" y="1278948"/>
                  </a:cubicBezTo>
                  <a:lnTo>
                    <a:pt x="0" y="26110"/>
                  </a:lnTo>
                  <a:cubicBezTo>
                    <a:pt x="0" y="19186"/>
                    <a:pt x="2751" y="12544"/>
                    <a:pt x="7648" y="7648"/>
                  </a:cubicBezTo>
                  <a:cubicBezTo>
                    <a:pt x="12544" y="2751"/>
                    <a:pt x="19186" y="0"/>
                    <a:pt x="26110" y="0"/>
                  </a:cubicBezTo>
                  <a:close/>
                </a:path>
              </a:pathLst>
            </a:custGeom>
            <a:solidFill>
              <a:srgbClr val="E7F0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136776" cy="1266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880638" y="508599"/>
            <a:ext cx="12359737" cy="9269803"/>
          </a:xfrm>
          <a:custGeom>
            <a:avLst/>
            <a:gdLst/>
            <a:ahLst/>
            <a:cxnLst/>
            <a:rect r="r" b="b" t="t" l="l"/>
            <a:pathLst>
              <a:path h="9269803" w="12359737">
                <a:moveTo>
                  <a:pt x="0" y="0"/>
                </a:moveTo>
                <a:lnTo>
                  <a:pt x="12359737" y="0"/>
                </a:lnTo>
                <a:lnTo>
                  <a:pt x="12359737" y="9269802"/>
                </a:lnTo>
                <a:lnTo>
                  <a:pt x="0" y="9269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57150" cap="sq">
            <a:solidFill>
              <a:srgbClr val="BCD2F4"/>
            </a:solidFill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333627" y="466473"/>
            <a:ext cx="5166102" cy="259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33"/>
              </a:lnSpc>
            </a:pPr>
            <a:r>
              <a:rPr lang="en-US" b="true" sz="6599" spc="85">
                <a:solidFill>
                  <a:srgbClr val="545454"/>
                </a:solidFill>
                <a:latin typeface="Hatton Bold"/>
                <a:ea typeface="Hatton Bold"/>
                <a:cs typeface="Hatton Bold"/>
                <a:sym typeface="Hatton Bold"/>
              </a:rPr>
              <a:t>TOP PRIORITY SERIES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8015" y="3608086"/>
            <a:ext cx="5197325" cy="634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26" u="sng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High Priority</a:t>
            </a:r>
          </a:p>
          <a:p>
            <a:pPr algn="l" marL="431804" indent="-215902" lvl="1">
              <a:lnSpc>
                <a:spcPts val="2800"/>
              </a:lnSpc>
              <a:buFont typeface="Arial"/>
              <a:buChar char="•"/>
            </a:pPr>
            <a:r>
              <a:rPr lang="en-US" b="true" sz="2000" spc="26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high grossing &amp; high customer engagement</a:t>
            </a:r>
          </a:p>
          <a:p>
            <a:pPr algn="l" marL="431804" indent="-215902" lvl="1">
              <a:lnSpc>
                <a:spcPts val="2800"/>
              </a:lnSpc>
              <a:buFont typeface="Arial"/>
              <a:buChar char="•"/>
            </a:pPr>
            <a:r>
              <a:rPr lang="en-US" b="true" sz="2000" spc="26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should be high on inventory list</a:t>
            </a:r>
          </a:p>
          <a:p>
            <a:pPr algn="l">
              <a:lnSpc>
                <a:spcPts val="2800"/>
              </a:lnSpc>
            </a:pPr>
            <a:r>
              <a:rPr lang="en-US" b="true" sz="2000" spc="26" u="sng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Grow</a:t>
            </a:r>
          </a:p>
          <a:p>
            <a:pPr algn="l" marL="431804" indent="-215902" lvl="1">
              <a:lnSpc>
                <a:spcPts val="2800"/>
              </a:lnSpc>
              <a:buFont typeface="Arial"/>
              <a:buChar char="•"/>
            </a:pPr>
            <a:r>
              <a:rPr lang="en-US" b="true" sz="2000" spc="26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mid to high customer engagement with mid revenue</a:t>
            </a:r>
          </a:p>
          <a:p>
            <a:pPr algn="l" marL="431804" indent="-215902" lvl="1">
              <a:lnSpc>
                <a:spcPts val="2800"/>
              </a:lnSpc>
              <a:buFont typeface="Arial"/>
              <a:buChar char="•"/>
            </a:pPr>
            <a:r>
              <a:rPr lang="en-US" b="true" sz="2000" spc="26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create buzz around titles for high potential</a:t>
            </a:r>
          </a:p>
          <a:p>
            <a:pPr algn="l">
              <a:lnSpc>
                <a:spcPts val="2800"/>
              </a:lnSpc>
            </a:pPr>
            <a:r>
              <a:rPr lang="en-US" b="true" sz="2000" spc="26" u="sng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Monetize</a:t>
            </a:r>
          </a:p>
          <a:p>
            <a:pPr algn="l" marL="431804" indent="-215902" lvl="1">
              <a:lnSpc>
                <a:spcPts val="2800"/>
              </a:lnSpc>
              <a:buFont typeface="Arial"/>
              <a:buChar char="•"/>
            </a:pPr>
            <a:r>
              <a:rPr lang="en-US" b="true" sz="2000" spc="26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high grossing but mid customer engagement</a:t>
            </a:r>
          </a:p>
          <a:p>
            <a:pPr algn="l" marL="431804" indent="-215902" lvl="1">
              <a:lnSpc>
                <a:spcPts val="2800"/>
              </a:lnSpc>
              <a:buFont typeface="Arial"/>
              <a:buChar char="•"/>
            </a:pPr>
            <a:r>
              <a:rPr lang="en-US" b="true" sz="2000" spc="26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price higher for niche consumer base</a:t>
            </a:r>
          </a:p>
          <a:p>
            <a:pPr algn="l">
              <a:lnSpc>
                <a:spcPts val="2800"/>
              </a:lnSpc>
            </a:pPr>
            <a:r>
              <a:rPr lang="en-US" b="true" sz="2000" spc="26" u="sng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Low Priority</a:t>
            </a:r>
          </a:p>
          <a:p>
            <a:pPr algn="l" marL="431804" indent="-215902" lvl="1">
              <a:lnSpc>
                <a:spcPts val="2800"/>
              </a:lnSpc>
              <a:buFont typeface="Arial"/>
              <a:buChar char="•"/>
            </a:pPr>
            <a:r>
              <a:rPr lang="en-US" b="true" sz="2000" spc="26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lower customer engagement &amp; revenue</a:t>
            </a:r>
          </a:p>
          <a:p>
            <a:pPr algn="l" marL="431804" indent="-215902" lvl="1">
              <a:lnSpc>
                <a:spcPts val="2800"/>
              </a:lnSpc>
              <a:buFont typeface="Arial"/>
              <a:buChar char="•"/>
            </a:pPr>
            <a:r>
              <a:rPr lang="en-US" b="true" sz="2000" spc="26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keep but don’t priorize over other titles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314175" y="9929041"/>
            <a:ext cx="900036" cy="273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spc="20">
                <a:solidFill>
                  <a:srgbClr val="545454"/>
                </a:solidFill>
                <a:latin typeface="Public Sans"/>
                <a:ea typeface="Public Sans"/>
                <a:cs typeface="Public Sans"/>
                <a:sym typeface="Public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473" y="58169"/>
            <a:ext cx="5791135" cy="3345206"/>
            <a:chOff x="0" y="0"/>
            <a:chExt cx="1136776" cy="6566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6776" cy="656651"/>
            </a:xfrm>
            <a:custGeom>
              <a:avLst/>
              <a:gdLst/>
              <a:ahLst/>
              <a:cxnLst/>
              <a:rect r="r" b="b" t="t" l="l"/>
              <a:pathLst>
                <a:path h="656651" w="1136776">
                  <a:moveTo>
                    <a:pt x="26110" y="0"/>
                  </a:moveTo>
                  <a:lnTo>
                    <a:pt x="1110666" y="0"/>
                  </a:lnTo>
                  <a:cubicBezTo>
                    <a:pt x="1117591" y="0"/>
                    <a:pt x="1124232" y="2751"/>
                    <a:pt x="1129129" y="7648"/>
                  </a:cubicBezTo>
                  <a:cubicBezTo>
                    <a:pt x="1134025" y="12544"/>
                    <a:pt x="1136776" y="19186"/>
                    <a:pt x="1136776" y="26110"/>
                  </a:cubicBezTo>
                  <a:lnTo>
                    <a:pt x="1136776" y="630540"/>
                  </a:lnTo>
                  <a:cubicBezTo>
                    <a:pt x="1136776" y="637465"/>
                    <a:pt x="1134025" y="644106"/>
                    <a:pt x="1129129" y="649003"/>
                  </a:cubicBezTo>
                  <a:cubicBezTo>
                    <a:pt x="1124232" y="653900"/>
                    <a:pt x="1117591" y="656651"/>
                    <a:pt x="1110666" y="656651"/>
                  </a:cubicBezTo>
                  <a:lnTo>
                    <a:pt x="26110" y="656651"/>
                  </a:lnTo>
                  <a:cubicBezTo>
                    <a:pt x="19186" y="656651"/>
                    <a:pt x="12544" y="653900"/>
                    <a:pt x="7648" y="649003"/>
                  </a:cubicBezTo>
                  <a:cubicBezTo>
                    <a:pt x="2751" y="644106"/>
                    <a:pt x="0" y="637465"/>
                    <a:pt x="0" y="630540"/>
                  </a:cubicBezTo>
                  <a:lnTo>
                    <a:pt x="0" y="26110"/>
                  </a:lnTo>
                  <a:cubicBezTo>
                    <a:pt x="0" y="19186"/>
                    <a:pt x="2751" y="12544"/>
                    <a:pt x="7648" y="7648"/>
                  </a:cubicBezTo>
                  <a:cubicBezTo>
                    <a:pt x="12544" y="2751"/>
                    <a:pt x="19186" y="0"/>
                    <a:pt x="26110" y="0"/>
                  </a:cubicBezTo>
                  <a:close/>
                </a:path>
              </a:pathLst>
            </a:custGeom>
            <a:solidFill>
              <a:srgbClr val="BCD2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1136776" cy="618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473" y="3487152"/>
            <a:ext cx="5791135" cy="6648423"/>
            <a:chOff x="0" y="0"/>
            <a:chExt cx="1136776" cy="13050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6776" cy="1305059"/>
            </a:xfrm>
            <a:custGeom>
              <a:avLst/>
              <a:gdLst/>
              <a:ahLst/>
              <a:cxnLst/>
              <a:rect r="r" b="b" t="t" l="l"/>
              <a:pathLst>
                <a:path h="1305059" w="1136776">
                  <a:moveTo>
                    <a:pt x="26110" y="0"/>
                  </a:moveTo>
                  <a:lnTo>
                    <a:pt x="1110666" y="0"/>
                  </a:lnTo>
                  <a:cubicBezTo>
                    <a:pt x="1117591" y="0"/>
                    <a:pt x="1124232" y="2751"/>
                    <a:pt x="1129129" y="7648"/>
                  </a:cubicBezTo>
                  <a:cubicBezTo>
                    <a:pt x="1134025" y="12544"/>
                    <a:pt x="1136776" y="19186"/>
                    <a:pt x="1136776" y="26110"/>
                  </a:cubicBezTo>
                  <a:lnTo>
                    <a:pt x="1136776" y="1278948"/>
                  </a:lnTo>
                  <a:cubicBezTo>
                    <a:pt x="1136776" y="1285873"/>
                    <a:pt x="1134025" y="1292514"/>
                    <a:pt x="1129129" y="1297411"/>
                  </a:cubicBezTo>
                  <a:cubicBezTo>
                    <a:pt x="1124232" y="1302308"/>
                    <a:pt x="1117591" y="1305059"/>
                    <a:pt x="1110666" y="1305059"/>
                  </a:cubicBezTo>
                  <a:lnTo>
                    <a:pt x="26110" y="1305059"/>
                  </a:lnTo>
                  <a:cubicBezTo>
                    <a:pt x="19186" y="1305059"/>
                    <a:pt x="12544" y="1302308"/>
                    <a:pt x="7648" y="1297411"/>
                  </a:cubicBezTo>
                  <a:cubicBezTo>
                    <a:pt x="2751" y="1292514"/>
                    <a:pt x="0" y="1285873"/>
                    <a:pt x="0" y="1278948"/>
                  </a:cubicBezTo>
                  <a:lnTo>
                    <a:pt x="0" y="26110"/>
                  </a:lnTo>
                  <a:cubicBezTo>
                    <a:pt x="0" y="19186"/>
                    <a:pt x="2751" y="12544"/>
                    <a:pt x="7648" y="7648"/>
                  </a:cubicBezTo>
                  <a:cubicBezTo>
                    <a:pt x="12544" y="2751"/>
                    <a:pt x="19186" y="0"/>
                    <a:pt x="26110" y="0"/>
                  </a:cubicBezTo>
                  <a:close/>
                </a:path>
              </a:pathLst>
            </a:custGeom>
            <a:solidFill>
              <a:srgbClr val="E7F0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136776" cy="1266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908181" y="517508"/>
            <a:ext cx="12335980" cy="9251985"/>
          </a:xfrm>
          <a:custGeom>
            <a:avLst/>
            <a:gdLst/>
            <a:ahLst/>
            <a:cxnLst/>
            <a:rect r="r" b="b" t="t" l="l"/>
            <a:pathLst>
              <a:path h="9251985" w="12335980">
                <a:moveTo>
                  <a:pt x="0" y="0"/>
                </a:moveTo>
                <a:lnTo>
                  <a:pt x="12335980" y="0"/>
                </a:lnTo>
                <a:lnTo>
                  <a:pt x="12335980" y="9251984"/>
                </a:lnTo>
                <a:lnTo>
                  <a:pt x="0" y="9251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57150" cap="sq">
            <a:solidFill>
              <a:srgbClr val="BCD2F4"/>
            </a:solidFill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21110" y="610739"/>
            <a:ext cx="5791135" cy="236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b="true" sz="6000" spc="78">
                <a:solidFill>
                  <a:srgbClr val="545454"/>
                </a:solidFill>
                <a:latin typeface="Hatton Bold"/>
                <a:ea typeface="Hatton Bold"/>
                <a:cs typeface="Hatton Bold"/>
                <a:sym typeface="Hatton Bold"/>
              </a:rPr>
              <a:t>TOP TITLES WITHIN A SERIES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8015" y="3576117"/>
            <a:ext cx="5197325" cy="7316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spc="33" b="true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Top individual titles’ revenue contributions within series in the High Priority and Grow quadrants.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sz="2600" spc="33" b="true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Displayed with gradient for quick contribution comparison.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b="true" sz="2600" spc="33" u="sng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Key Takeaways: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 spc="33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Customer engagement helps identify scalable series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 spc="33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Individual titles help determine stock of series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7314175" y="9929041"/>
            <a:ext cx="900036" cy="273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spc="20">
                <a:solidFill>
                  <a:srgbClr val="545454"/>
                </a:solidFill>
                <a:latin typeface="Public Sans"/>
                <a:ea typeface="Public Sans"/>
                <a:cs typeface="Public Sans"/>
                <a:sym typeface="Public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CBC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7553" y="3703192"/>
            <a:ext cx="14946820" cy="5614678"/>
            <a:chOff x="0" y="0"/>
            <a:chExt cx="1136776" cy="4270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6776" cy="427023"/>
            </a:xfrm>
            <a:custGeom>
              <a:avLst/>
              <a:gdLst/>
              <a:ahLst/>
              <a:cxnLst/>
              <a:rect r="r" b="b" t="t" l="l"/>
              <a:pathLst>
                <a:path h="427023" w="1136776">
                  <a:moveTo>
                    <a:pt x="10116" y="0"/>
                  </a:moveTo>
                  <a:lnTo>
                    <a:pt x="1126660" y="0"/>
                  </a:lnTo>
                  <a:cubicBezTo>
                    <a:pt x="1129343" y="0"/>
                    <a:pt x="1131916" y="1066"/>
                    <a:pt x="1133813" y="2963"/>
                  </a:cubicBezTo>
                  <a:cubicBezTo>
                    <a:pt x="1135711" y="4860"/>
                    <a:pt x="1136776" y="7433"/>
                    <a:pt x="1136776" y="10116"/>
                  </a:cubicBezTo>
                  <a:lnTo>
                    <a:pt x="1136776" y="416906"/>
                  </a:lnTo>
                  <a:cubicBezTo>
                    <a:pt x="1136776" y="419589"/>
                    <a:pt x="1135711" y="422163"/>
                    <a:pt x="1133813" y="424060"/>
                  </a:cubicBezTo>
                  <a:cubicBezTo>
                    <a:pt x="1131916" y="425957"/>
                    <a:pt x="1129343" y="427023"/>
                    <a:pt x="1126660" y="427023"/>
                  </a:cubicBezTo>
                  <a:lnTo>
                    <a:pt x="10116" y="427023"/>
                  </a:lnTo>
                  <a:cubicBezTo>
                    <a:pt x="7433" y="427023"/>
                    <a:pt x="4860" y="425957"/>
                    <a:pt x="2963" y="424060"/>
                  </a:cubicBezTo>
                  <a:cubicBezTo>
                    <a:pt x="1066" y="422163"/>
                    <a:pt x="0" y="419589"/>
                    <a:pt x="0" y="416906"/>
                  </a:cubicBezTo>
                  <a:lnTo>
                    <a:pt x="0" y="10116"/>
                  </a:lnTo>
                  <a:cubicBezTo>
                    <a:pt x="0" y="7433"/>
                    <a:pt x="1066" y="4860"/>
                    <a:pt x="2963" y="2963"/>
                  </a:cubicBezTo>
                  <a:cubicBezTo>
                    <a:pt x="4860" y="1066"/>
                    <a:pt x="7433" y="0"/>
                    <a:pt x="10116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1136776" cy="388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994024" y="2542117"/>
            <a:ext cx="4500393" cy="5202766"/>
          </a:xfrm>
          <a:custGeom>
            <a:avLst/>
            <a:gdLst/>
            <a:ahLst/>
            <a:cxnLst/>
            <a:rect r="r" b="b" t="t" l="l"/>
            <a:pathLst>
              <a:path h="5202766" w="4500393">
                <a:moveTo>
                  <a:pt x="0" y="0"/>
                </a:moveTo>
                <a:lnTo>
                  <a:pt x="4500393" y="0"/>
                </a:lnTo>
                <a:lnTo>
                  <a:pt x="4500393" y="5202766"/>
                </a:lnTo>
                <a:lnTo>
                  <a:pt x="0" y="5202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97064" y="2353336"/>
            <a:ext cx="11696960" cy="81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6600" spc="85">
                <a:solidFill>
                  <a:srgbClr val="545454"/>
                </a:solidFill>
                <a:latin typeface="Hatton Bold"/>
                <a:ea typeface="Hatton Bold"/>
                <a:cs typeface="Hatton Bold"/>
                <a:sym typeface="Hatton Bold"/>
              </a:rPr>
              <a:t>LIMITATIONS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7064" y="3880282"/>
            <a:ext cx="14618791" cy="415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spc="31" b="true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Revenue is not guaranteed, only projected.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7064" y="4464747"/>
            <a:ext cx="14618791" cy="711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26">
                <a:solidFill>
                  <a:srgbClr val="545454"/>
                </a:solidFill>
                <a:latin typeface="Public Sans"/>
                <a:ea typeface="Public Sans"/>
                <a:cs typeface="Public Sans"/>
                <a:sym typeface="Public Sans"/>
              </a:rPr>
              <a:t>Revenue is calculated based on final price the book sold for and the number of reviews left. Because of this, the revenue cannot be guaranteed, but gives a good indication of how it performed.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7064" y="5430325"/>
            <a:ext cx="14618791" cy="415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spc="31" b="true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The data cannot relay </a:t>
            </a:r>
            <a:r>
              <a:rPr lang="en-US" b="true" sz="2399" i="true" spc="31">
                <a:solidFill>
                  <a:srgbClr val="545454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exactly </a:t>
            </a:r>
            <a:r>
              <a:rPr lang="en-US" sz="2399" spc="31" b="true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what to stock.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7064" y="6014790"/>
            <a:ext cx="14618791" cy="1063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26">
                <a:solidFill>
                  <a:srgbClr val="545454"/>
                </a:solidFill>
                <a:latin typeface="Public Sans"/>
                <a:ea typeface="Public Sans"/>
                <a:cs typeface="Public Sans"/>
                <a:sym typeface="Public Sans"/>
              </a:rPr>
              <a:t>The data will not spell out exactly which titles to stock, however trends of revenue and customer engagement can be used to predict top performing titles &amp; products. Emphasizing customer engagement gives insight into what the consumer enjoys and is reaching for, indicating these should be stocked.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7064" y="7335491"/>
            <a:ext cx="14618791" cy="415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spc="31" b="true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The data is not the most current.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7064" y="7919957"/>
            <a:ext cx="14618791" cy="1063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26">
                <a:solidFill>
                  <a:srgbClr val="545454"/>
                </a:solidFill>
                <a:latin typeface="Public Sans"/>
                <a:ea typeface="Public Sans"/>
                <a:cs typeface="Public Sans"/>
                <a:sym typeface="Public Sans"/>
              </a:rPr>
              <a:t>This dataset was provided from Amazon’s best-sellers list for 2021 and was the most up-to-date version available for public usage. Because of this, its very possible titles identified within this presentation have been surpassed by different titles.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314175" y="9929041"/>
            <a:ext cx="900036" cy="273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spc="20">
                <a:solidFill>
                  <a:srgbClr val="545454"/>
                </a:solidFill>
                <a:latin typeface="Public Sans"/>
                <a:ea typeface="Public Sans"/>
                <a:cs typeface="Public Sans"/>
                <a:sym typeface="Public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ACBC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7553" y="3703192"/>
            <a:ext cx="14946820" cy="4399336"/>
            <a:chOff x="0" y="0"/>
            <a:chExt cx="1136776" cy="3345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6776" cy="334590"/>
            </a:xfrm>
            <a:custGeom>
              <a:avLst/>
              <a:gdLst/>
              <a:ahLst/>
              <a:cxnLst/>
              <a:rect r="r" b="b" t="t" l="l"/>
              <a:pathLst>
                <a:path h="334590" w="1136776">
                  <a:moveTo>
                    <a:pt x="10116" y="0"/>
                  </a:moveTo>
                  <a:lnTo>
                    <a:pt x="1126660" y="0"/>
                  </a:lnTo>
                  <a:cubicBezTo>
                    <a:pt x="1129343" y="0"/>
                    <a:pt x="1131916" y="1066"/>
                    <a:pt x="1133813" y="2963"/>
                  </a:cubicBezTo>
                  <a:cubicBezTo>
                    <a:pt x="1135711" y="4860"/>
                    <a:pt x="1136776" y="7433"/>
                    <a:pt x="1136776" y="10116"/>
                  </a:cubicBezTo>
                  <a:lnTo>
                    <a:pt x="1136776" y="324474"/>
                  </a:lnTo>
                  <a:cubicBezTo>
                    <a:pt x="1136776" y="327157"/>
                    <a:pt x="1135711" y="329730"/>
                    <a:pt x="1133813" y="331627"/>
                  </a:cubicBezTo>
                  <a:cubicBezTo>
                    <a:pt x="1131916" y="333524"/>
                    <a:pt x="1129343" y="334590"/>
                    <a:pt x="1126660" y="334590"/>
                  </a:cubicBezTo>
                  <a:lnTo>
                    <a:pt x="10116" y="334590"/>
                  </a:lnTo>
                  <a:cubicBezTo>
                    <a:pt x="7433" y="334590"/>
                    <a:pt x="4860" y="333524"/>
                    <a:pt x="2963" y="331627"/>
                  </a:cubicBezTo>
                  <a:cubicBezTo>
                    <a:pt x="1066" y="329730"/>
                    <a:pt x="0" y="327157"/>
                    <a:pt x="0" y="324474"/>
                  </a:cubicBezTo>
                  <a:lnTo>
                    <a:pt x="0" y="10116"/>
                  </a:lnTo>
                  <a:cubicBezTo>
                    <a:pt x="0" y="7433"/>
                    <a:pt x="1066" y="4860"/>
                    <a:pt x="2963" y="2963"/>
                  </a:cubicBezTo>
                  <a:cubicBezTo>
                    <a:pt x="4860" y="1066"/>
                    <a:pt x="7433" y="0"/>
                    <a:pt x="10116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1136776" cy="296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97064" y="3909112"/>
            <a:ext cx="14618791" cy="353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6" indent="-313053" lvl="1">
              <a:lnSpc>
                <a:spcPts val="6698"/>
              </a:lnSpc>
              <a:buFont typeface="Arial"/>
              <a:buChar char="•"/>
            </a:pPr>
            <a:r>
              <a:rPr lang="en-US" b="true" sz="2899" spc="37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Prioritize Fiction titles </a:t>
            </a:r>
          </a:p>
          <a:p>
            <a:pPr algn="l" marL="626106" indent="-313053" lvl="1">
              <a:lnSpc>
                <a:spcPts val="4320"/>
              </a:lnSpc>
              <a:buFont typeface="Arial"/>
              <a:buChar char="•"/>
            </a:pPr>
            <a:r>
              <a:rPr lang="en-US" b="true" sz="2899" spc="37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</a:t>
            </a:r>
            <a:r>
              <a:rPr lang="en-US" b="true" sz="2899" spc="37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eep a large inventory of Children’s Books, Mystery &amp; Thriller, Teen &amp; Young Adult, and Biographies &amp; Memoirs titles</a:t>
            </a:r>
          </a:p>
          <a:p>
            <a:pPr algn="l" marL="626106" indent="-313053" lvl="1">
              <a:lnSpc>
                <a:spcPts val="6698"/>
              </a:lnSpc>
              <a:buFont typeface="Arial"/>
              <a:buChar char="•"/>
            </a:pPr>
            <a:r>
              <a:rPr lang="en-US" b="true" sz="2899" spc="37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Within each genre, stock titles falling into the highest grossing subgenres</a:t>
            </a:r>
          </a:p>
          <a:p>
            <a:pPr algn="l" marL="626106" indent="-313053" lvl="1">
              <a:lnSpc>
                <a:spcPts val="6698"/>
              </a:lnSpc>
              <a:buFont typeface="Arial"/>
              <a:buChar char="•"/>
            </a:pPr>
            <a:r>
              <a:rPr lang="en-US" b="true" sz="2899" spc="37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Stock books from all subgenres to appeal to niche customers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7064" y="1669786"/>
            <a:ext cx="13387021" cy="176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34"/>
              </a:lnSpc>
            </a:pPr>
            <a:r>
              <a:rPr lang="en-US" b="true" sz="6600" spc="85">
                <a:solidFill>
                  <a:srgbClr val="545454"/>
                </a:solidFill>
                <a:latin typeface="Hatton Bold"/>
                <a:ea typeface="Hatton Bold"/>
                <a:cs typeface="Hatton Bold"/>
                <a:sym typeface="Hatton Bold"/>
              </a:rPr>
              <a:t>RECOMMENDATIONS - GENRE SPECIFIC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314175" y="9929041"/>
            <a:ext cx="900036" cy="273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spc="20">
                <a:solidFill>
                  <a:srgbClr val="545454"/>
                </a:solidFill>
                <a:latin typeface="Public Sans"/>
                <a:ea typeface="Public Sans"/>
                <a:cs typeface="Public Sans"/>
                <a:sym typeface="Public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ACBC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596" y="3642425"/>
            <a:ext cx="15363509" cy="4312526"/>
            <a:chOff x="0" y="0"/>
            <a:chExt cx="1168467" cy="3279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8467" cy="327988"/>
            </a:xfrm>
            <a:custGeom>
              <a:avLst/>
              <a:gdLst/>
              <a:ahLst/>
              <a:cxnLst/>
              <a:rect r="r" b="b" t="t" l="l"/>
              <a:pathLst>
                <a:path h="327988" w="1168467">
                  <a:moveTo>
                    <a:pt x="9842" y="0"/>
                  </a:moveTo>
                  <a:lnTo>
                    <a:pt x="1158625" y="0"/>
                  </a:lnTo>
                  <a:cubicBezTo>
                    <a:pt x="1164061" y="0"/>
                    <a:pt x="1168467" y="4406"/>
                    <a:pt x="1168467" y="9842"/>
                  </a:cubicBezTo>
                  <a:lnTo>
                    <a:pt x="1168467" y="318146"/>
                  </a:lnTo>
                  <a:cubicBezTo>
                    <a:pt x="1168467" y="323582"/>
                    <a:pt x="1164061" y="327988"/>
                    <a:pt x="1158625" y="327988"/>
                  </a:cubicBezTo>
                  <a:lnTo>
                    <a:pt x="9842" y="327988"/>
                  </a:lnTo>
                  <a:cubicBezTo>
                    <a:pt x="4406" y="327988"/>
                    <a:pt x="0" y="323582"/>
                    <a:pt x="0" y="318146"/>
                  </a:cubicBezTo>
                  <a:lnTo>
                    <a:pt x="0" y="9842"/>
                  </a:lnTo>
                  <a:cubicBezTo>
                    <a:pt x="0" y="4406"/>
                    <a:pt x="4406" y="0"/>
                    <a:pt x="9842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1168467" cy="2898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97064" y="3866668"/>
            <a:ext cx="14618791" cy="3420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6" indent="-313053" lvl="1">
              <a:lnSpc>
                <a:spcPts val="669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9" spc="37" strike="noStrike" u="none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Prioritize titles off of the Top 10 Priority Books list</a:t>
            </a:r>
          </a:p>
          <a:p>
            <a:pPr algn="l" marL="626106" indent="-313053" lvl="1">
              <a:lnSpc>
                <a:spcPts val="3827"/>
              </a:lnSpc>
              <a:buFont typeface="Arial"/>
              <a:buChar char="•"/>
            </a:pPr>
            <a:r>
              <a:rPr lang="en-US" b="true" sz="2899" spc="37" strike="noStrike" u="none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Prioritize series in the High Priority and Grow quadrants of the Prioritization Matrix</a:t>
            </a:r>
          </a:p>
          <a:p>
            <a:pPr algn="l" marL="626106" indent="-313053" lvl="1">
              <a:lnSpc>
                <a:spcPts val="669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9" spc="37" strike="noStrike" u="none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Keep in mind titles in the Monetize quadrant</a:t>
            </a:r>
          </a:p>
          <a:p>
            <a:pPr algn="l" marL="626106" indent="-313053" lvl="1">
              <a:lnSpc>
                <a:spcPts val="669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9" spc="37" strike="noStrike" u="none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Prioritize top performing titles within a series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7064" y="1669786"/>
            <a:ext cx="13387021" cy="176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34"/>
              </a:lnSpc>
            </a:pPr>
            <a:r>
              <a:rPr lang="en-US" b="true" sz="6600" spc="85">
                <a:solidFill>
                  <a:srgbClr val="545454"/>
                </a:solidFill>
                <a:latin typeface="Hatton Bold"/>
                <a:ea typeface="Hatton Bold"/>
                <a:cs typeface="Hatton Bold"/>
                <a:sym typeface="Hatton Bold"/>
              </a:rPr>
              <a:t>RECOMMENDATIONS - TITLE/SERIES SPECIFIC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314175" y="9929041"/>
            <a:ext cx="900036" cy="273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spc="20">
                <a:solidFill>
                  <a:srgbClr val="545454"/>
                </a:solidFill>
                <a:latin typeface="Public Sans"/>
                <a:ea typeface="Public Sans"/>
                <a:cs typeface="Public Sans"/>
                <a:sym typeface="Public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CBC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596" y="3642425"/>
            <a:ext cx="15363509" cy="4312526"/>
            <a:chOff x="0" y="0"/>
            <a:chExt cx="1168467" cy="3279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8467" cy="327988"/>
            </a:xfrm>
            <a:custGeom>
              <a:avLst/>
              <a:gdLst/>
              <a:ahLst/>
              <a:cxnLst/>
              <a:rect r="r" b="b" t="t" l="l"/>
              <a:pathLst>
                <a:path h="327988" w="1168467">
                  <a:moveTo>
                    <a:pt x="9842" y="0"/>
                  </a:moveTo>
                  <a:lnTo>
                    <a:pt x="1158625" y="0"/>
                  </a:lnTo>
                  <a:cubicBezTo>
                    <a:pt x="1164061" y="0"/>
                    <a:pt x="1168467" y="4406"/>
                    <a:pt x="1168467" y="9842"/>
                  </a:cubicBezTo>
                  <a:lnTo>
                    <a:pt x="1168467" y="318146"/>
                  </a:lnTo>
                  <a:cubicBezTo>
                    <a:pt x="1168467" y="323582"/>
                    <a:pt x="1164061" y="327988"/>
                    <a:pt x="1158625" y="327988"/>
                  </a:cubicBezTo>
                  <a:lnTo>
                    <a:pt x="9842" y="327988"/>
                  </a:lnTo>
                  <a:cubicBezTo>
                    <a:pt x="4406" y="327988"/>
                    <a:pt x="0" y="323582"/>
                    <a:pt x="0" y="318146"/>
                  </a:cubicBezTo>
                  <a:lnTo>
                    <a:pt x="0" y="9842"/>
                  </a:lnTo>
                  <a:cubicBezTo>
                    <a:pt x="0" y="4406"/>
                    <a:pt x="4406" y="0"/>
                    <a:pt x="9842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1168467" cy="2898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97064" y="3866668"/>
            <a:ext cx="14618791" cy="329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6" indent="-313053" lvl="1">
              <a:lnSpc>
                <a:spcPts val="6698"/>
              </a:lnSpc>
              <a:buFont typeface="Arial"/>
              <a:buChar char="•"/>
            </a:pPr>
            <a:r>
              <a:rPr lang="en-US" b="true" sz="2899" spc="37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Increased inventory efficiecy</a:t>
            </a:r>
          </a:p>
          <a:p>
            <a:pPr algn="l" marL="626106" indent="-313053" lvl="1">
              <a:lnSpc>
                <a:spcPts val="6698"/>
              </a:lnSpc>
              <a:buFont typeface="Arial"/>
              <a:buChar char="•"/>
            </a:pPr>
            <a:r>
              <a:rPr lang="en-US" b="true" sz="2899" spc="37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Higher projectred revenue potential</a:t>
            </a:r>
          </a:p>
          <a:p>
            <a:pPr algn="l" marL="626106" indent="-313053" lvl="1">
              <a:lnSpc>
                <a:spcPts val="6698"/>
              </a:lnSpc>
              <a:buFont typeface="Arial"/>
              <a:buChar char="•"/>
            </a:pPr>
            <a:r>
              <a:rPr lang="en-US" b="true" sz="2899" spc="37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Improved promotional targeting</a:t>
            </a:r>
          </a:p>
          <a:p>
            <a:pPr algn="l" marL="626106" indent="-313053" lvl="1">
              <a:lnSpc>
                <a:spcPts val="669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9" spc="37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Positive customer engagement &amp; retention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7064" y="2498428"/>
            <a:ext cx="13387021" cy="93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34"/>
              </a:lnSpc>
            </a:pPr>
            <a:r>
              <a:rPr lang="en-US" b="true" sz="6600" spc="85">
                <a:solidFill>
                  <a:srgbClr val="545454"/>
                </a:solidFill>
                <a:latin typeface="Hatton Bold"/>
                <a:ea typeface="Hatton Bold"/>
                <a:cs typeface="Hatton Bold"/>
                <a:sym typeface="Hatton Bold"/>
              </a:rPr>
              <a:t>BUSINESS VALUE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314175" y="9929041"/>
            <a:ext cx="900036" cy="273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spc="20">
                <a:solidFill>
                  <a:srgbClr val="545454"/>
                </a:solidFill>
                <a:latin typeface="Public Sans"/>
                <a:ea typeface="Public Sans"/>
                <a:cs typeface="Public Sans"/>
                <a:sym typeface="Public Sans"/>
              </a:rPr>
              <a:t>15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427397" y="4180993"/>
            <a:ext cx="5831903" cy="5649656"/>
          </a:xfrm>
          <a:custGeom>
            <a:avLst/>
            <a:gdLst/>
            <a:ahLst/>
            <a:cxnLst/>
            <a:rect r="r" b="b" t="t" l="l"/>
            <a:pathLst>
              <a:path h="5649656" w="5831903">
                <a:moveTo>
                  <a:pt x="0" y="0"/>
                </a:moveTo>
                <a:lnTo>
                  <a:pt x="5831903" y="0"/>
                </a:lnTo>
                <a:lnTo>
                  <a:pt x="5831903" y="5649656"/>
                </a:lnTo>
                <a:lnTo>
                  <a:pt x="0" y="5649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CBC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42285" y="6115311"/>
            <a:ext cx="2034727" cy="3391212"/>
          </a:xfrm>
          <a:custGeom>
            <a:avLst/>
            <a:gdLst/>
            <a:ahLst/>
            <a:cxnLst/>
            <a:rect r="r" b="b" t="t" l="l"/>
            <a:pathLst>
              <a:path h="3391212" w="2034727">
                <a:moveTo>
                  <a:pt x="0" y="0"/>
                </a:moveTo>
                <a:lnTo>
                  <a:pt x="2034727" y="0"/>
                </a:lnTo>
                <a:lnTo>
                  <a:pt x="2034727" y="3391212"/>
                </a:lnTo>
                <a:lnTo>
                  <a:pt x="0" y="3391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29120" y="4701256"/>
            <a:ext cx="7429761" cy="951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9"/>
              </a:lnSpc>
            </a:pPr>
            <a:r>
              <a:rPr lang="en-US" b="true" sz="6699" spc="87">
                <a:solidFill>
                  <a:srgbClr val="545454"/>
                </a:solidFill>
                <a:latin typeface="Hatton Bold"/>
                <a:ea typeface="Hatton Bold"/>
                <a:cs typeface="Hatton Bold"/>
                <a:sym typeface="Hatton Bold"/>
              </a:rPr>
              <a:t>THANK YOU!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29120" y="8318033"/>
            <a:ext cx="7429761" cy="1253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399" spc="31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Maddi Klepps</a:t>
            </a:r>
          </a:p>
          <a:p>
            <a:pPr algn="ctr">
              <a:lnSpc>
                <a:spcPts val="3359"/>
              </a:lnSpc>
            </a:pPr>
            <a:r>
              <a:rPr lang="en-US" b="true" sz="2399" spc="31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 Analytics Capstone</a:t>
            </a:r>
          </a:p>
          <a:p>
            <a:pPr algn="ctr">
              <a:lnSpc>
                <a:spcPts val="3359"/>
              </a:lnSpc>
            </a:pPr>
            <a:r>
              <a:rPr lang="en-US" b="true" sz="2399" spc="31">
                <a:solidFill>
                  <a:srgbClr val="54545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Spring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DAHJS5g3fPc</dc:identifier>
  <dcterms:modified xsi:type="dcterms:W3CDTF">2011-08-01T06:04:30Z</dcterms:modified>
  <cp:revision>1</cp:revision>
  <dc:title>Data Analytics Capstone Slide Deck - Klepps</dc:title>
</cp:coreProperties>
</file>